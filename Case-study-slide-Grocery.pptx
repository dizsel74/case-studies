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Google Sans Medium" panose="020B0604020202020204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SemiBold" panose="020B0706030804020204" pitchFamily="34" charset="0"/>
      <p:regular r:id="rId42"/>
      <p:bold r:id="rId43"/>
      <p:italic r:id="rId44"/>
      <p:boldItalic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8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49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d800de29c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d800de29c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ed80ebc1c_1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ed80ebc1c_1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ed80ebc1c_1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ed80ebc1c_1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cd03e5b75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cd03e5b75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d03e5b75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d03e5b75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d03e5b75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cd03e5b75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ed80ebc1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ced80ebc1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ced80ebc1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ced80ebc1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cd03e5b752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cd03e5b752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ced80ebc1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ced80ebc1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d03e5b75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d03e5b75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ced80ebc1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ced80ebc1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ced80ebc1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ced80ebc1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800de29c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800de29cc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cd03e5b75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cd03e5b752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800de29cc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800de29cc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d800de29cc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d800de29cc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d12f718f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d12f718f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cd03e5b752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cd03e5b752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cd03e5b752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cd03e5b752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cd03e5b75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cd03e5b75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cd03e5b752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cd03e5b752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cd03e5b75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cd03e5b752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ced80ebc1c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ced80ebc1c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cd03e5b75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cd03e5b75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0" name="Google Shape;50;p1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8" name="Google Shape;68;p1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71" name="Google Shape;71;p19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75" name="Google Shape;75;p2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421698" y="4841325"/>
            <a:ext cx="464876" cy="15299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arturomendozarendon@gmail.co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 txBox="1"/>
          <p:nvPr/>
        </p:nvSpPr>
        <p:spPr>
          <a:xfrm>
            <a:off x="466172" y="1279119"/>
            <a:ext cx="8211655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Case Simple Grocery App for local store</a:t>
            </a:r>
            <a:endParaRPr sz="3600" dirty="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5" name="Google Shape;145;p40"/>
          <p:cNvSpPr txBox="1"/>
          <p:nvPr/>
        </p:nvSpPr>
        <p:spPr>
          <a:xfrm>
            <a:off x="517675" y="2769663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Arturo Mendoza Rendón</a:t>
            </a:r>
            <a:endParaRPr sz="24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40"/>
          <p:cNvCxnSpPr/>
          <p:nvPr/>
        </p:nvCxnSpPr>
        <p:spPr>
          <a:xfrm rot="10800000">
            <a:off x="517650" y="2670825"/>
            <a:ext cx="58080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1"/>
          <p:cNvSpPr/>
          <p:nvPr/>
        </p:nvSpPr>
        <p:spPr>
          <a:xfrm>
            <a:off x="5517175" y="638725"/>
            <a:ext cx="3380400" cy="41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1"/>
          <p:cNvSpPr txBox="1"/>
          <p:nvPr/>
        </p:nvSpPr>
        <p:spPr>
          <a:xfrm>
            <a:off x="1231075" y="1604200"/>
            <a:ext cx="4086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product: </a:t>
            </a:r>
            <a:endParaRPr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about the app, website, or other product that you designed and the target users</a:t>
            </a:r>
            <a:endParaRPr sz="1200" b="1" dirty="0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41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41"/>
          <p:cNvSpPr/>
          <p:nvPr/>
        </p:nvSpPr>
        <p:spPr>
          <a:xfrm>
            <a:off x="517675" y="16042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1"/>
          <p:cNvSpPr txBox="1"/>
          <p:nvPr/>
        </p:nvSpPr>
        <p:spPr>
          <a:xfrm>
            <a:off x="1231075" y="3172985"/>
            <a:ext cx="3446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duration:</a:t>
            </a:r>
            <a:endParaRPr dirty="0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June 2022  – November 2022</a:t>
            </a:r>
            <a:endParaRPr sz="1200" b="1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41"/>
          <p:cNvSpPr/>
          <p:nvPr/>
        </p:nvSpPr>
        <p:spPr>
          <a:xfrm>
            <a:off x="517675" y="3172985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1"/>
          <p:cNvSpPr/>
          <p:nvPr/>
        </p:nvSpPr>
        <p:spPr>
          <a:xfrm>
            <a:off x="643388" y="3299236"/>
            <a:ext cx="261874" cy="260801"/>
          </a:xfrm>
          <a:custGeom>
            <a:avLst/>
            <a:gdLst/>
            <a:ahLst/>
            <a:cxnLst/>
            <a:rect l="l" t="t" r="r" b="b"/>
            <a:pathLst>
              <a:path w="1048" h="1045" extrusionOk="0">
                <a:moveTo>
                  <a:pt x="522" y="0"/>
                </a:moveTo>
                <a:cubicBezTo>
                  <a:pt x="234" y="0"/>
                  <a:pt x="0" y="234"/>
                  <a:pt x="0" y="522"/>
                </a:cubicBezTo>
                <a:cubicBezTo>
                  <a:pt x="0" y="810"/>
                  <a:pt x="234" y="1044"/>
                  <a:pt x="522" y="1044"/>
                </a:cubicBezTo>
                <a:cubicBezTo>
                  <a:pt x="810" y="1044"/>
                  <a:pt x="1044" y="810"/>
                  <a:pt x="1044" y="522"/>
                </a:cubicBezTo>
                <a:cubicBezTo>
                  <a:pt x="1047" y="234"/>
                  <a:pt x="812" y="0"/>
                  <a:pt x="522" y="0"/>
                </a:cubicBezTo>
                <a:close/>
                <a:moveTo>
                  <a:pt x="525" y="940"/>
                </a:moveTo>
                <a:cubicBezTo>
                  <a:pt x="293" y="940"/>
                  <a:pt x="107" y="754"/>
                  <a:pt x="107" y="522"/>
                </a:cubicBezTo>
                <a:cubicBezTo>
                  <a:pt x="107" y="291"/>
                  <a:pt x="293" y="104"/>
                  <a:pt x="525" y="104"/>
                </a:cubicBezTo>
                <a:cubicBezTo>
                  <a:pt x="756" y="104"/>
                  <a:pt x="942" y="290"/>
                  <a:pt x="942" y="522"/>
                </a:cubicBezTo>
                <a:cubicBezTo>
                  <a:pt x="942" y="753"/>
                  <a:pt x="753" y="940"/>
                  <a:pt x="525" y="940"/>
                </a:cubicBezTo>
                <a:close/>
                <a:moveTo>
                  <a:pt x="471" y="259"/>
                </a:moveTo>
                <a:lnTo>
                  <a:pt x="471" y="573"/>
                </a:lnTo>
                <a:lnTo>
                  <a:pt x="745" y="736"/>
                </a:lnTo>
                <a:lnTo>
                  <a:pt x="784" y="671"/>
                </a:lnTo>
                <a:lnTo>
                  <a:pt x="550" y="533"/>
                </a:lnTo>
                <a:lnTo>
                  <a:pt x="550" y="259"/>
                </a:lnTo>
                <a:lnTo>
                  <a:pt x="471" y="2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1"/>
          <p:cNvSpPr/>
          <p:nvPr/>
        </p:nvSpPr>
        <p:spPr>
          <a:xfrm>
            <a:off x="610514" y="1752262"/>
            <a:ext cx="327623" cy="217176"/>
          </a:xfrm>
          <a:custGeom>
            <a:avLst/>
            <a:gdLst/>
            <a:ahLst/>
            <a:cxnLst/>
            <a:rect l="l" t="t" r="r" b="b"/>
            <a:pathLst>
              <a:path w="1149" h="765" extrusionOk="0">
                <a:moveTo>
                  <a:pt x="191" y="96"/>
                </a:moveTo>
                <a:lnTo>
                  <a:pt x="1052" y="96"/>
                </a:lnTo>
                <a:lnTo>
                  <a:pt x="1052" y="0"/>
                </a:lnTo>
                <a:lnTo>
                  <a:pt x="191" y="0"/>
                </a:lnTo>
                <a:cubicBezTo>
                  <a:pt x="138" y="0"/>
                  <a:pt x="95" y="42"/>
                  <a:pt x="95" y="96"/>
                </a:cubicBezTo>
                <a:lnTo>
                  <a:pt x="95" y="621"/>
                </a:lnTo>
                <a:lnTo>
                  <a:pt x="0" y="621"/>
                </a:lnTo>
                <a:lnTo>
                  <a:pt x="0" y="764"/>
                </a:lnTo>
                <a:lnTo>
                  <a:pt x="668" y="764"/>
                </a:lnTo>
                <a:lnTo>
                  <a:pt x="668" y="621"/>
                </a:lnTo>
                <a:lnTo>
                  <a:pt x="191" y="621"/>
                </a:lnTo>
                <a:lnTo>
                  <a:pt x="191" y="96"/>
                </a:lnTo>
                <a:close/>
                <a:moveTo>
                  <a:pt x="1100" y="189"/>
                </a:moveTo>
                <a:lnTo>
                  <a:pt x="812" y="189"/>
                </a:lnTo>
                <a:cubicBezTo>
                  <a:pt x="787" y="189"/>
                  <a:pt x="764" y="211"/>
                  <a:pt x="764" y="237"/>
                </a:cubicBezTo>
                <a:lnTo>
                  <a:pt x="764" y="714"/>
                </a:lnTo>
                <a:cubicBezTo>
                  <a:pt x="764" y="739"/>
                  <a:pt x="787" y="762"/>
                  <a:pt x="812" y="762"/>
                </a:cubicBezTo>
                <a:lnTo>
                  <a:pt x="1100" y="762"/>
                </a:lnTo>
                <a:cubicBezTo>
                  <a:pt x="1126" y="762"/>
                  <a:pt x="1148" y="739"/>
                  <a:pt x="1148" y="714"/>
                </a:cubicBezTo>
                <a:lnTo>
                  <a:pt x="1148" y="237"/>
                </a:lnTo>
                <a:cubicBezTo>
                  <a:pt x="1145" y="211"/>
                  <a:pt x="1126" y="189"/>
                  <a:pt x="1100" y="189"/>
                </a:cubicBezTo>
                <a:close/>
                <a:moveTo>
                  <a:pt x="1052" y="621"/>
                </a:moveTo>
                <a:lnTo>
                  <a:pt x="860" y="621"/>
                </a:lnTo>
                <a:lnTo>
                  <a:pt x="860" y="285"/>
                </a:lnTo>
                <a:lnTo>
                  <a:pt x="1052" y="285"/>
                </a:lnTo>
                <a:lnTo>
                  <a:pt x="1052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1"/>
          <p:cNvSpPr txBox="1"/>
          <p:nvPr/>
        </p:nvSpPr>
        <p:spPr>
          <a:xfrm>
            <a:off x="6301825" y="2412325"/>
            <a:ext cx="181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Preview of selected polished designs.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/>
        </p:nvSpPr>
        <p:spPr>
          <a:xfrm>
            <a:off x="517675" y="2237975"/>
            <a:ext cx="3446100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problem: </a:t>
            </a:r>
            <a:endParaRPr dirty="0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User´s doesn’t have enough time to shop at their local grocery store due work schedule or daily activities.</a:t>
            </a:r>
            <a:endParaRPr sz="1200" b="1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42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42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2"/>
          <p:cNvSpPr txBox="1"/>
          <p:nvPr/>
        </p:nvSpPr>
        <p:spPr>
          <a:xfrm>
            <a:off x="4572000" y="2237975"/>
            <a:ext cx="3446100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goal: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Let users purchase from their local grocery store and be able choose a curve–pickup or have it delivered after regular business hours.</a:t>
            </a:r>
            <a:endParaRPr lang="en-US" sz="1200" b="1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4684213" y="1653525"/>
            <a:ext cx="288875" cy="274249"/>
          </a:xfrm>
          <a:custGeom>
            <a:avLst/>
            <a:gdLst/>
            <a:ahLst/>
            <a:cxnLst/>
            <a:rect l="l" t="t" r="r" b="b"/>
            <a:pathLst>
              <a:path w="1045" h="993" extrusionOk="0">
                <a:moveTo>
                  <a:pt x="522" y="798"/>
                </a:moveTo>
                <a:lnTo>
                  <a:pt x="844" y="992"/>
                </a:lnTo>
                <a:lnTo>
                  <a:pt x="759" y="626"/>
                </a:lnTo>
                <a:lnTo>
                  <a:pt x="1044" y="378"/>
                </a:lnTo>
                <a:lnTo>
                  <a:pt x="669" y="347"/>
                </a:lnTo>
                <a:lnTo>
                  <a:pt x="522" y="0"/>
                </a:lnTo>
                <a:lnTo>
                  <a:pt x="375" y="347"/>
                </a:lnTo>
                <a:lnTo>
                  <a:pt x="0" y="378"/>
                </a:lnTo>
                <a:lnTo>
                  <a:pt x="285" y="626"/>
                </a:lnTo>
                <a:lnTo>
                  <a:pt x="200" y="992"/>
                </a:lnTo>
                <a:lnTo>
                  <a:pt x="522" y="798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640475" y="1656801"/>
            <a:ext cx="267700" cy="267700"/>
          </a:xfrm>
          <a:custGeom>
            <a:avLst/>
            <a:gdLst/>
            <a:ahLst/>
            <a:cxnLst/>
            <a:rect l="l" t="t" r="r" b="b"/>
            <a:pathLst>
              <a:path w="209550" h="209550" extrusionOk="0">
                <a:moveTo>
                  <a:pt x="115315" y="52353"/>
                </a:moveTo>
                <a:lnTo>
                  <a:pt x="115315" y="115315"/>
                </a:lnTo>
                <a:lnTo>
                  <a:pt x="94235" y="115315"/>
                </a:lnTo>
                <a:lnTo>
                  <a:pt x="94235" y="52353"/>
                </a:lnTo>
                <a:close/>
                <a:moveTo>
                  <a:pt x="115315" y="136256"/>
                </a:moveTo>
                <a:lnTo>
                  <a:pt x="115315" y="157197"/>
                </a:lnTo>
                <a:lnTo>
                  <a:pt x="94235" y="157197"/>
                </a:lnTo>
                <a:lnTo>
                  <a:pt x="94235" y="136256"/>
                </a:lnTo>
                <a:close/>
                <a:moveTo>
                  <a:pt x="104705" y="0"/>
                </a:moveTo>
                <a:lnTo>
                  <a:pt x="99400" y="140"/>
                </a:lnTo>
                <a:lnTo>
                  <a:pt x="94095" y="558"/>
                </a:lnTo>
                <a:lnTo>
                  <a:pt x="88790" y="1256"/>
                </a:lnTo>
                <a:lnTo>
                  <a:pt x="83625" y="2094"/>
                </a:lnTo>
                <a:lnTo>
                  <a:pt x="78599" y="3351"/>
                </a:lnTo>
                <a:lnTo>
                  <a:pt x="73573" y="4747"/>
                </a:lnTo>
                <a:lnTo>
                  <a:pt x="68687" y="6422"/>
                </a:lnTo>
                <a:lnTo>
                  <a:pt x="63940" y="8237"/>
                </a:lnTo>
                <a:lnTo>
                  <a:pt x="59333" y="10331"/>
                </a:lnTo>
                <a:lnTo>
                  <a:pt x="54866" y="12704"/>
                </a:lnTo>
                <a:lnTo>
                  <a:pt x="50398" y="15217"/>
                </a:lnTo>
                <a:lnTo>
                  <a:pt x="46210" y="17870"/>
                </a:lnTo>
                <a:lnTo>
                  <a:pt x="42022" y="20801"/>
                </a:lnTo>
                <a:lnTo>
                  <a:pt x="38113" y="23873"/>
                </a:lnTo>
                <a:lnTo>
                  <a:pt x="34343" y="27223"/>
                </a:lnTo>
                <a:lnTo>
                  <a:pt x="30714" y="30714"/>
                </a:lnTo>
                <a:lnTo>
                  <a:pt x="27223" y="34343"/>
                </a:lnTo>
                <a:lnTo>
                  <a:pt x="23873" y="38113"/>
                </a:lnTo>
                <a:lnTo>
                  <a:pt x="20801" y="42161"/>
                </a:lnTo>
                <a:lnTo>
                  <a:pt x="17870" y="46210"/>
                </a:lnTo>
                <a:lnTo>
                  <a:pt x="15217" y="50398"/>
                </a:lnTo>
                <a:lnTo>
                  <a:pt x="12704" y="54866"/>
                </a:lnTo>
                <a:lnTo>
                  <a:pt x="10331" y="59333"/>
                </a:lnTo>
                <a:lnTo>
                  <a:pt x="8237" y="63940"/>
                </a:lnTo>
                <a:lnTo>
                  <a:pt x="6282" y="68826"/>
                </a:lnTo>
                <a:lnTo>
                  <a:pt x="4747" y="73573"/>
                </a:lnTo>
                <a:lnTo>
                  <a:pt x="3351" y="78599"/>
                </a:lnTo>
                <a:lnTo>
                  <a:pt x="2094" y="83625"/>
                </a:lnTo>
                <a:lnTo>
                  <a:pt x="1256" y="88790"/>
                </a:lnTo>
                <a:lnTo>
                  <a:pt x="558" y="94095"/>
                </a:lnTo>
                <a:lnTo>
                  <a:pt x="140" y="99400"/>
                </a:lnTo>
                <a:lnTo>
                  <a:pt x="0" y="104845"/>
                </a:lnTo>
                <a:lnTo>
                  <a:pt x="140" y="110150"/>
                </a:lnTo>
                <a:lnTo>
                  <a:pt x="558" y="115455"/>
                </a:lnTo>
                <a:lnTo>
                  <a:pt x="1256" y="120760"/>
                </a:lnTo>
                <a:lnTo>
                  <a:pt x="2094" y="125925"/>
                </a:lnTo>
                <a:lnTo>
                  <a:pt x="3351" y="130951"/>
                </a:lnTo>
                <a:lnTo>
                  <a:pt x="4747" y="135977"/>
                </a:lnTo>
                <a:lnTo>
                  <a:pt x="6282" y="140863"/>
                </a:lnTo>
                <a:lnTo>
                  <a:pt x="8237" y="145610"/>
                </a:lnTo>
                <a:lnTo>
                  <a:pt x="10331" y="150217"/>
                </a:lnTo>
                <a:lnTo>
                  <a:pt x="12704" y="154684"/>
                </a:lnTo>
                <a:lnTo>
                  <a:pt x="15217" y="159152"/>
                </a:lnTo>
                <a:lnTo>
                  <a:pt x="17870" y="163340"/>
                </a:lnTo>
                <a:lnTo>
                  <a:pt x="20801" y="167528"/>
                </a:lnTo>
                <a:lnTo>
                  <a:pt x="23873" y="171437"/>
                </a:lnTo>
                <a:lnTo>
                  <a:pt x="27223" y="175207"/>
                </a:lnTo>
                <a:lnTo>
                  <a:pt x="30714" y="178836"/>
                </a:lnTo>
                <a:lnTo>
                  <a:pt x="34343" y="182327"/>
                </a:lnTo>
                <a:lnTo>
                  <a:pt x="38113" y="185677"/>
                </a:lnTo>
                <a:lnTo>
                  <a:pt x="42022" y="188749"/>
                </a:lnTo>
                <a:lnTo>
                  <a:pt x="46210" y="191680"/>
                </a:lnTo>
                <a:lnTo>
                  <a:pt x="50398" y="194333"/>
                </a:lnTo>
                <a:lnTo>
                  <a:pt x="54866" y="196846"/>
                </a:lnTo>
                <a:lnTo>
                  <a:pt x="59333" y="199219"/>
                </a:lnTo>
                <a:lnTo>
                  <a:pt x="63940" y="201313"/>
                </a:lnTo>
                <a:lnTo>
                  <a:pt x="68687" y="203268"/>
                </a:lnTo>
                <a:lnTo>
                  <a:pt x="73573" y="204803"/>
                </a:lnTo>
                <a:lnTo>
                  <a:pt x="78599" y="206199"/>
                </a:lnTo>
                <a:lnTo>
                  <a:pt x="83625" y="207456"/>
                </a:lnTo>
                <a:lnTo>
                  <a:pt x="88790" y="208294"/>
                </a:lnTo>
                <a:lnTo>
                  <a:pt x="94095" y="208992"/>
                </a:lnTo>
                <a:lnTo>
                  <a:pt x="99400" y="209410"/>
                </a:lnTo>
                <a:lnTo>
                  <a:pt x="104705" y="209550"/>
                </a:lnTo>
                <a:lnTo>
                  <a:pt x="110150" y="209410"/>
                </a:lnTo>
                <a:lnTo>
                  <a:pt x="115455" y="208992"/>
                </a:lnTo>
                <a:lnTo>
                  <a:pt x="120760" y="208294"/>
                </a:lnTo>
                <a:lnTo>
                  <a:pt x="125925" y="207456"/>
                </a:lnTo>
                <a:lnTo>
                  <a:pt x="130951" y="206199"/>
                </a:lnTo>
                <a:lnTo>
                  <a:pt x="135977" y="204803"/>
                </a:lnTo>
                <a:lnTo>
                  <a:pt x="140724" y="203268"/>
                </a:lnTo>
                <a:lnTo>
                  <a:pt x="145610" y="201313"/>
                </a:lnTo>
                <a:lnTo>
                  <a:pt x="150217" y="199219"/>
                </a:lnTo>
                <a:lnTo>
                  <a:pt x="154684" y="196846"/>
                </a:lnTo>
                <a:lnTo>
                  <a:pt x="159152" y="194333"/>
                </a:lnTo>
                <a:lnTo>
                  <a:pt x="163340" y="191680"/>
                </a:lnTo>
                <a:lnTo>
                  <a:pt x="167389" y="188749"/>
                </a:lnTo>
                <a:lnTo>
                  <a:pt x="171437" y="185677"/>
                </a:lnTo>
                <a:lnTo>
                  <a:pt x="175207" y="182327"/>
                </a:lnTo>
                <a:lnTo>
                  <a:pt x="178836" y="178836"/>
                </a:lnTo>
                <a:lnTo>
                  <a:pt x="182327" y="175207"/>
                </a:lnTo>
                <a:lnTo>
                  <a:pt x="185677" y="171437"/>
                </a:lnTo>
                <a:lnTo>
                  <a:pt x="188749" y="167528"/>
                </a:lnTo>
                <a:lnTo>
                  <a:pt x="191680" y="163340"/>
                </a:lnTo>
                <a:lnTo>
                  <a:pt x="194333" y="159152"/>
                </a:lnTo>
                <a:lnTo>
                  <a:pt x="196846" y="154684"/>
                </a:lnTo>
                <a:lnTo>
                  <a:pt x="199219" y="150217"/>
                </a:lnTo>
                <a:lnTo>
                  <a:pt x="201313" y="145610"/>
                </a:lnTo>
                <a:lnTo>
                  <a:pt x="203128" y="140863"/>
                </a:lnTo>
                <a:lnTo>
                  <a:pt x="204803" y="135977"/>
                </a:lnTo>
                <a:lnTo>
                  <a:pt x="206199" y="130951"/>
                </a:lnTo>
                <a:lnTo>
                  <a:pt x="207456" y="125925"/>
                </a:lnTo>
                <a:lnTo>
                  <a:pt x="208294" y="120760"/>
                </a:lnTo>
                <a:lnTo>
                  <a:pt x="208992" y="115455"/>
                </a:lnTo>
                <a:lnTo>
                  <a:pt x="209410" y="110150"/>
                </a:lnTo>
                <a:lnTo>
                  <a:pt x="209550" y="104845"/>
                </a:lnTo>
                <a:lnTo>
                  <a:pt x="209410" y="99400"/>
                </a:lnTo>
                <a:lnTo>
                  <a:pt x="208992" y="94095"/>
                </a:lnTo>
                <a:lnTo>
                  <a:pt x="208294" y="88790"/>
                </a:lnTo>
                <a:lnTo>
                  <a:pt x="207456" y="83625"/>
                </a:lnTo>
                <a:lnTo>
                  <a:pt x="206199" y="78599"/>
                </a:lnTo>
                <a:lnTo>
                  <a:pt x="204803" y="73573"/>
                </a:lnTo>
                <a:lnTo>
                  <a:pt x="203128" y="68826"/>
                </a:lnTo>
                <a:lnTo>
                  <a:pt x="201313" y="63940"/>
                </a:lnTo>
                <a:lnTo>
                  <a:pt x="199219" y="59333"/>
                </a:lnTo>
                <a:lnTo>
                  <a:pt x="196846" y="54866"/>
                </a:lnTo>
                <a:lnTo>
                  <a:pt x="194333" y="50398"/>
                </a:lnTo>
                <a:lnTo>
                  <a:pt x="191680" y="46210"/>
                </a:lnTo>
                <a:lnTo>
                  <a:pt x="188749" y="42161"/>
                </a:lnTo>
                <a:lnTo>
                  <a:pt x="185677" y="38113"/>
                </a:lnTo>
                <a:lnTo>
                  <a:pt x="182327" y="34343"/>
                </a:lnTo>
                <a:lnTo>
                  <a:pt x="178836" y="30714"/>
                </a:lnTo>
                <a:lnTo>
                  <a:pt x="175207" y="27223"/>
                </a:lnTo>
                <a:lnTo>
                  <a:pt x="171437" y="23873"/>
                </a:lnTo>
                <a:lnTo>
                  <a:pt x="167389" y="20801"/>
                </a:lnTo>
                <a:lnTo>
                  <a:pt x="163340" y="17870"/>
                </a:lnTo>
                <a:lnTo>
                  <a:pt x="159152" y="15217"/>
                </a:lnTo>
                <a:lnTo>
                  <a:pt x="154684" y="12704"/>
                </a:lnTo>
                <a:lnTo>
                  <a:pt x="150217" y="10331"/>
                </a:lnTo>
                <a:lnTo>
                  <a:pt x="145610" y="8237"/>
                </a:lnTo>
                <a:lnTo>
                  <a:pt x="140724" y="6422"/>
                </a:lnTo>
                <a:lnTo>
                  <a:pt x="135977" y="4747"/>
                </a:lnTo>
                <a:lnTo>
                  <a:pt x="130951" y="3351"/>
                </a:lnTo>
                <a:lnTo>
                  <a:pt x="125925" y="2094"/>
                </a:lnTo>
                <a:lnTo>
                  <a:pt x="120760" y="1256"/>
                </a:lnTo>
                <a:lnTo>
                  <a:pt x="115455" y="558"/>
                </a:lnTo>
                <a:lnTo>
                  <a:pt x="110150" y="140"/>
                </a:lnTo>
                <a:lnTo>
                  <a:pt x="1047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 txBox="1"/>
          <p:nvPr/>
        </p:nvSpPr>
        <p:spPr>
          <a:xfrm>
            <a:off x="517675" y="2237975"/>
            <a:ext cx="3446100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 role: </a:t>
            </a:r>
            <a:endParaRPr dirty="0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UX researcher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UX designer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UI development</a:t>
            </a:r>
            <a:endParaRPr sz="1200" b="1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43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43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3"/>
          <p:cNvSpPr txBox="1"/>
          <p:nvPr/>
        </p:nvSpPr>
        <p:spPr>
          <a:xfrm>
            <a:off x="4572000" y="2237975"/>
            <a:ext cx="3446100" cy="244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Responsibilities</a:t>
            </a:r>
            <a:r>
              <a:rPr lang="en" dirty="0">
                <a:solidFill>
                  <a:srgbClr val="1967D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</a:t>
            </a:r>
            <a:endParaRPr dirty="0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Competitive audit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ireframing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Conduct a Test research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Prototyping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App development </a:t>
            </a:r>
            <a:endParaRPr lang="en" sz="1200" b="1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43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3"/>
          <p:cNvSpPr/>
          <p:nvPr/>
        </p:nvSpPr>
        <p:spPr>
          <a:xfrm>
            <a:off x="645441" y="1662440"/>
            <a:ext cx="257757" cy="256421"/>
          </a:xfrm>
          <a:custGeom>
            <a:avLst/>
            <a:gdLst/>
            <a:ahLst/>
            <a:cxnLst/>
            <a:rect l="l" t="t" r="r" b="b"/>
            <a:pathLst>
              <a:path w="851" h="847" extrusionOk="0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4685687" y="1710781"/>
            <a:ext cx="285935" cy="159748"/>
          </a:xfrm>
          <a:custGeom>
            <a:avLst/>
            <a:gdLst/>
            <a:ahLst/>
            <a:cxnLst/>
            <a:rect l="l" t="t" r="r" b="b"/>
            <a:pathLst>
              <a:path w="941" h="526" extrusionOk="0">
                <a:moveTo>
                  <a:pt x="0" y="316"/>
                </a:moveTo>
                <a:lnTo>
                  <a:pt x="105" y="316"/>
                </a:lnTo>
                <a:lnTo>
                  <a:pt x="105" y="212"/>
                </a:lnTo>
                <a:lnTo>
                  <a:pt x="0" y="212"/>
                </a:lnTo>
                <a:lnTo>
                  <a:pt x="0" y="316"/>
                </a:lnTo>
                <a:close/>
                <a:moveTo>
                  <a:pt x="0" y="525"/>
                </a:moveTo>
                <a:lnTo>
                  <a:pt x="105" y="525"/>
                </a:lnTo>
                <a:lnTo>
                  <a:pt x="105" y="421"/>
                </a:lnTo>
                <a:lnTo>
                  <a:pt x="0" y="421"/>
                </a:lnTo>
                <a:lnTo>
                  <a:pt x="0" y="525"/>
                </a:lnTo>
                <a:close/>
                <a:moveTo>
                  <a:pt x="0" y="105"/>
                </a:moveTo>
                <a:lnTo>
                  <a:pt x="105" y="105"/>
                </a:lnTo>
                <a:lnTo>
                  <a:pt x="105" y="0"/>
                </a:lnTo>
                <a:lnTo>
                  <a:pt x="0" y="0"/>
                </a:lnTo>
                <a:lnTo>
                  <a:pt x="0" y="105"/>
                </a:lnTo>
                <a:close/>
                <a:moveTo>
                  <a:pt x="209" y="316"/>
                </a:moveTo>
                <a:lnTo>
                  <a:pt x="940" y="316"/>
                </a:lnTo>
                <a:lnTo>
                  <a:pt x="940" y="212"/>
                </a:lnTo>
                <a:lnTo>
                  <a:pt x="209" y="212"/>
                </a:lnTo>
                <a:lnTo>
                  <a:pt x="209" y="316"/>
                </a:lnTo>
                <a:close/>
                <a:moveTo>
                  <a:pt x="209" y="525"/>
                </a:moveTo>
                <a:lnTo>
                  <a:pt x="940" y="525"/>
                </a:lnTo>
                <a:lnTo>
                  <a:pt x="940" y="421"/>
                </a:lnTo>
                <a:lnTo>
                  <a:pt x="209" y="421"/>
                </a:lnTo>
                <a:lnTo>
                  <a:pt x="209" y="525"/>
                </a:lnTo>
                <a:close/>
                <a:moveTo>
                  <a:pt x="209" y="0"/>
                </a:moveTo>
                <a:lnTo>
                  <a:pt x="209" y="105"/>
                </a:lnTo>
                <a:lnTo>
                  <a:pt x="940" y="105"/>
                </a:lnTo>
                <a:lnTo>
                  <a:pt x="940" y="0"/>
                </a:lnTo>
                <a:lnTo>
                  <a:pt x="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4335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/>
        </p:nvSpPr>
        <p:spPr>
          <a:xfrm>
            <a:off x="-46002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user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4"/>
          <p:cNvSpPr txBox="1"/>
          <p:nvPr/>
        </p:nvSpPr>
        <p:spPr>
          <a:xfrm>
            <a:off x="3712425" y="1886850"/>
            <a:ext cx="39465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research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statements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journey maps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8" name="Google Shape;188;p44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45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summary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45"/>
          <p:cNvSpPr txBox="1"/>
          <p:nvPr/>
        </p:nvSpPr>
        <p:spPr>
          <a:xfrm>
            <a:off x="919075" y="2461800"/>
            <a:ext cx="7136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 start with foundational research trying to figure out what the user needs and how to define those needs in the app. The research focus on three main questions: 1) What are the user´s problems?, 2) How can I solve those problems?, and 3) What should I build?</a:t>
            </a:r>
          </a:p>
          <a:p>
            <a:pPr algn="l">
              <a:lnSpc>
                <a:spcPct val="150000"/>
              </a:lnSpc>
            </a:pPr>
            <a:endParaRPr lang="en-US" sz="12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At the beginning of the project, I assume that only single professionals have troubles doing their groceries, but as the research advance and conduct interviews and surveys where applied, I found out that also none professionals and couples have the same issue.</a:t>
            </a:r>
            <a:endParaRPr sz="1200" b="1" dirty="0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45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5"/>
          <p:cNvSpPr/>
          <p:nvPr/>
        </p:nvSpPr>
        <p:spPr>
          <a:xfrm>
            <a:off x="4373201" y="1744926"/>
            <a:ext cx="227849" cy="227849"/>
          </a:xfrm>
          <a:custGeom>
            <a:avLst/>
            <a:gdLst/>
            <a:ahLst/>
            <a:cxnLst/>
            <a:rect l="l" t="t" r="r" b="b"/>
            <a:pathLst>
              <a:path w="940" h="941" extrusionOk="0">
                <a:moveTo>
                  <a:pt x="835" y="0"/>
                </a:moveTo>
                <a:lnTo>
                  <a:pt x="104" y="0"/>
                </a:lnTo>
                <a:cubicBezTo>
                  <a:pt x="47" y="0"/>
                  <a:pt x="0" y="48"/>
                  <a:pt x="0" y="105"/>
                </a:cubicBezTo>
                <a:lnTo>
                  <a:pt x="0" y="835"/>
                </a:lnTo>
                <a:cubicBezTo>
                  <a:pt x="0" y="892"/>
                  <a:pt x="47" y="940"/>
                  <a:pt x="104" y="940"/>
                </a:cubicBezTo>
                <a:lnTo>
                  <a:pt x="835" y="940"/>
                </a:lnTo>
                <a:cubicBezTo>
                  <a:pt x="891" y="940"/>
                  <a:pt x="939" y="892"/>
                  <a:pt x="939" y="835"/>
                </a:cubicBezTo>
                <a:lnTo>
                  <a:pt x="939" y="105"/>
                </a:lnTo>
                <a:cubicBezTo>
                  <a:pt x="939" y="48"/>
                  <a:pt x="891" y="0"/>
                  <a:pt x="835" y="0"/>
                </a:cubicBezTo>
                <a:close/>
                <a:moveTo>
                  <a:pt x="313" y="734"/>
                </a:moveTo>
                <a:lnTo>
                  <a:pt x="208" y="734"/>
                </a:lnTo>
                <a:lnTo>
                  <a:pt x="208" y="367"/>
                </a:lnTo>
                <a:lnTo>
                  <a:pt x="313" y="367"/>
                </a:lnTo>
                <a:lnTo>
                  <a:pt x="313" y="734"/>
                </a:lnTo>
                <a:close/>
                <a:moveTo>
                  <a:pt x="522" y="734"/>
                </a:moveTo>
                <a:lnTo>
                  <a:pt x="417" y="734"/>
                </a:lnTo>
                <a:lnTo>
                  <a:pt x="417" y="212"/>
                </a:lnTo>
                <a:lnTo>
                  <a:pt x="522" y="212"/>
                </a:lnTo>
                <a:lnTo>
                  <a:pt x="522" y="734"/>
                </a:lnTo>
                <a:close/>
                <a:moveTo>
                  <a:pt x="730" y="734"/>
                </a:moveTo>
                <a:lnTo>
                  <a:pt x="626" y="734"/>
                </a:lnTo>
                <a:lnTo>
                  <a:pt x="626" y="525"/>
                </a:lnTo>
                <a:lnTo>
                  <a:pt x="730" y="525"/>
                </a:lnTo>
                <a:lnTo>
                  <a:pt x="730" y="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6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pain points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46"/>
          <p:cNvSpPr txBox="1"/>
          <p:nvPr/>
        </p:nvSpPr>
        <p:spPr>
          <a:xfrm>
            <a:off x="441463" y="2008850"/>
            <a:ext cx="18726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Go inside the store</a:t>
            </a:r>
            <a:endParaRPr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4" name="Google Shape;204;p46"/>
          <p:cNvSpPr txBox="1"/>
          <p:nvPr/>
        </p:nvSpPr>
        <p:spPr>
          <a:xfrm>
            <a:off x="441475" y="2522475"/>
            <a:ext cx="18726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only way to get your products is by getting inside the store.</a:t>
            </a:r>
            <a:endParaRPr sz="1200" dirty="0"/>
          </a:p>
        </p:txBody>
      </p:sp>
      <p:sp>
        <p:nvSpPr>
          <p:cNvPr id="205" name="Google Shape;205;p46"/>
          <p:cNvSpPr txBox="1"/>
          <p:nvPr/>
        </p:nvSpPr>
        <p:spPr>
          <a:xfrm>
            <a:off x="2582713" y="2008850"/>
            <a:ext cx="18726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 delivery</a:t>
            </a:r>
            <a:endParaRPr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2582725" y="2522475"/>
            <a:ext cx="1872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local store don't have delivery of goods.</a:t>
            </a:r>
            <a:endParaRPr sz="1200" dirty="0"/>
          </a:p>
        </p:txBody>
      </p:sp>
      <p:sp>
        <p:nvSpPr>
          <p:cNvPr id="207" name="Google Shape;207;p46"/>
          <p:cNvSpPr txBox="1"/>
          <p:nvPr/>
        </p:nvSpPr>
        <p:spPr>
          <a:xfrm>
            <a:off x="4723969" y="2008850"/>
            <a:ext cx="18726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Work Late</a:t>
            </a:r>
            <a:endParaRPr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8" name="Google Shape;208;p46"/>
          <p:cNvSpPr txBox="1"/>
          <p:nvPr/>
        </p:nvSpPr>
        <p:spPr>
          <a:xfrm>
            <a:off x="4723969" y="2522475"/>
            <a:ext cx="18726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store business hours align with most work schedules</a:t>
            </a: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200" dirty="0"/>
          </a:p>
        </p:txBody>
      </p:sp>
      <p:sp>
        <p:nvSpPr>
          <p:cNvPr id="209" name="Google Shape;209;p46"/>
          <p:cNvSpPr txBox="1"/>
          <p:nvPr/>
        </p:nvSpPr>
        <p:spPr>
          <a:xfrm>
            <a:off x="6865219" y="2008850"/>
            <a:ext cx="18726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Pick-up service</a:t>
            </a:r>
            <a:endParaRPr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6865219" y="2522475"/>
            <a:ext cx="18726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Don´t like to share their address, some prefer picking up their goods.</a:t>
            </a:r>
            <a:endParaRPr sz="1200" dirty="0"/>
          </a:p>
        </p:txBody>
      </p:sp>
      <p:sp>
        <p:nvSpPr>
          <p:cNvPr id="211" name="Google Shape;211;p46"/>
          <p:cNvSpPr/>
          <p:nvPr/>
        </p:nvSpPr>
        <p:spPr>
          <a:xfrm>
            <a:off x="11211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2" name="Google Shape;212;p46"/>
          <p:cNvSpPr/>
          <p:nvPr/>
        </p:nvSpPr>
        <p:spPr>
          <a:xfrm>
            <a:off x="32623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3" name="Google Shape;213;p46"/>
          <p:cNvSpPr/>
          <p:nvPr/>
        </p:nvSpPr>
        <p:spPr>
          <a:xfrm>
            <a:off x="54036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4" name="Google Shape;214;p46"/>
          <p:cNvSpPr/>
          <p:nvPr/>
        </p:nvSpPr>
        <p:spPr>
          <a:xfrm>
            <a:off x="75448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Persona: </a:t>
            </a:r>
            <a:r>
              <a:rPr lang="en" sz="2400" b="1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Juan Escudero</a:t>
            </a:r>
            <a:endParaRPr sz="2400" b="1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47"/>
          <p:cNvSpPr txBox="1"/>
          <p:nvPr/>
        </p:nvSpPr>
        <p:spPr>
          <a:xfrm>
            <a:off x="517675" y="1080880"/>
            <a:ext cx="2232249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Problem statement:</a:t>
            </a:r>
            <a:endParaRPr dirty="0">
              <a:solidFill>
                <a:srgbClr val="EA433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Juan is a young </a:t>
            </a: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professional  that has an odd working schedule</a:t>
            </a:r>
            <a:endParaRPr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who needs </a:t>
            </a: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to choose a delivery that meets his  schedule </a:t>
            </a: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because </a:t>
            </a: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his goods need to be delivered after the regular store business hours </a:t>
            </a: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6C95F76B-4B34-C3D8-FED2-38EC9393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782" y="1305341"/>
            <a:ext cx="6120543" cy="3308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journey map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48"/>
          <p:cNvSpPr/>
          <p:nvPr/>
        </p:nvSpPr>
        <p:spPr>
          <a:xfrm>
            <a:off x="4212000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48"/>
          <p:cNvSpPr txBox="1"/>
          <p:nvPr/>
        </p:nvSpPr>
        <p:spPr>
          <a:xfrm>
            <a:off x="6011725" y="2294700"/>
            <a:ext cx="133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user journey map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536325" y="1202860"/>
            <a:ext cx="24213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participant was enthusiast, I  am trying a new app that might solve his pain points due the incompatibility of schedules whit his local grocery store.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Seems confuse on how to select of where to choose the delivery method.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4ACCA80-3D48-9D1E-765D-AC1902759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450" y="884110"/>
            <a:ext cx="4750422" cy="2821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9900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3721275" y="1886850"/>
            <a:ext cx="63021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Paper wireframes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wireframes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Usability studies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49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Starting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/>
          <p:nvPr/>
        </p:nvSpPr>
        <p:spPr>
          <a:xfrm>
            <a:off x="4291921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5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Paper wireframes 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50"/>
          <p:cNvSpPr txBox="1"/>
          <p:nvPr/>
        </p:nvSpPr>
        <p:spPr>
          <a:xfrm>
            <a:off x="517675" y="1522550"/>
            <a:ext cx="24213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 this process I tend to create 4-5 wireframes with my first thoughts and then I pick or discard ideas for the final wireframe for that page in particular.</a:t>
            </a:r>
            <a:endParaRPr dirty="0"/>
          </a:p>
        </p:txBody>
      </p:sp>
      <p:pic>
        <p:nvPicPr>
          <p:cNvPr id="7" name="Imagen 6" descr="Un dibujo de un pizarrón blanco&#10;&#10;Descripción generada automáticamente con confianza baja">
            <a:extLst>
              <a:ext uri="{FF2B5EF4-FFF2-40B4-BE49-F238E27FC236}">
                <a16:creationId xmlns:a16="http://schemas.microsoft.com/office/drawing/2014/main" id="{7DE52130-AFCA-042E-D144-4CCEFA40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495" y="109799"/>
            <a:ext cx="2410229" cy="3077804"/>
          </a:xfrm>
          <a:prstGeom prst="rect">
            <a:avLst/>
          </a:prstGeom>
        </p:spPr>
      </p:pic>
      <p:pic>
        <p:nvPicPr>
          <p:cNvPr id="9" name="Imagen 8" descr="Diagrama&#10;&#10;Descripción generada automáticamente">
            <a:extLst>
              <a:ext uri="{FF2B5EF4-FFF2-40B4-BE49-F238E27FC236}">
                <a16:creationId xmlns:a16="http://schemas.microsoft.com/office/drawing/2014/main" id="{1433FD58-6114-5D93-DFCB-FFB8A6C07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556" y="1289619"/>
            <a:ext cx="2024730" cy="3564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2BA26C-D767-5A5E-D837-1D672E3F3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191" y="1076459"/>
            <a:ext cx="2558436" cy="3934775"/>
          </a:xfrm>
          <a:prstGeom prst="rect">
            <a:avLst/>
          </a:prstGeom>
        </p:spPr>
      </p:pic>
      <p:sp>
        <p:nvSpPr>
          <p:cNvPr id="249" name="Google Shape;249;p51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51"/>
          <p:cNvSpPr txBox="1"/>
          <p:nvPr/>
        </p:nvSpPr>
        <p:spPr>
          <a:xfrm>
            <a:off x="517675" y="1522550"/>
            <a:ext cx="2421300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From the user journey maps I include an extra option for a mayor social network the sign in button is big to facilitate the action.</a:t>
            </a:r>
            <a:endParaRPr dirty="0"/>
          </a:p>
        </p:txBody>
      </p:sp>
      <p:cxnSp>
        <p:nvCxnSpPr>
          <p:cNvPr id="252" name="Google Shape;252;p51"/>
          <p:cNvCxnSpPr>
            <a:cxnSpLocks/>
          </p:cNvCxnSpPr>
          <p:nvPr/>
        </p:nvCxnSpPr>
        <p:spPr>
          <a:xfrm>
            <a:off x="4419723" y="3983573"/>
            <a:ext cx="1281467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3" name="Google Shape;253;p51"/>
          <p:cNvSpPr txBox="1"/>
          <p:nvPr/>
        </p:nvSpPr>
        <p:spPr>
          <a:xfrm>
            <a:off x="7977475" y="2711993"/>
            <a:ext cx="1100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Option to be remembered for further logins.</a:t>
            </a:r>
            <a:endParaRPr sz="10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4" name="Google Shape;254;p51"/>
          <p:cNvCxnSpPr/>
          <p:nvPr/>
        </p:nvCxnSpPr>
        <p:spPr>
          <a:xfrm rot="10800000">
            <a:off x="7059475" y="3105369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6" name="Google Shape;256;p51"/>
          <p:cNvSpPr txBox="1"/>
          <p:nvPr/>
        </p:nvSpPr>
        <p:spPr>
          <a:xfrm>
            <a:off x="3449516" y="3294367"/>
            <a:ext cx="11004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Option to login with an existing account from </a:t>
            </a:r>
            <a:r>
              <a:rPr lang="en-US" sz="1000" dirty="0" err="1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gmail</a:t>
            </a:r>
            <a:r>
              <a:rPr lang="en-US" sz="10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 or Facebook.</a:t>
            </a:r>
            <a:endParaRPr sz="10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BB5015-D94A-4E5E-9264-F7AA9F989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397" y="1078450"/>
            <a:ext cx="2353745" cy="3935953"/>
          </a:xfrm>
          <a:prstGeom prst="rect">
            <a:avLst/>
          </a:prstGeom>
        </p:spPr>
      </p:pic>
      <p:sp>
        <p:nvSpPr>
          <p:cNvPr id="261" name="Google Shape;261;p52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52"/>
          <p:cNvSpPr txBox="1"/>
          <p:nvPr/>
        </p:nvSpPr>
        <p:spPr>
          <a:xfrm>
            <a:off x="517675" y="1522550"/>
            <a:ext cx="24213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Attending Juan´s journey map, I create a detail page for business ours and delivery schedules.</a:t>
            </a:r>
            <a:endParaRPr dirty="0"/>
          </a:p>
        </p:txBody>
      </p:sp>
      <p:cxnSp>
        <p:nvCxnSpPr>
          <p:cNvPr id="264" name="Google Shape;264;p52"/>
          <p:cNvCxnSpPr/>
          <p:nvPr/>
        </p:nvCxnSpPr>
        <p:spPr>
          <a:xfrm>
            <a:off x="4831657" y="2245850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5" name="Google Shape;265;p52"/>
          <p:cNvSpPr txBox="1"/>
          <p:nvPr/>
        </p:nvSpPr>
        <p:spPr>
          <a:xfrm>
            <a:off x="3669590" y="1845650"/>
            <a:ext cx="11004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Details for store  business hours</a:t>
            </a:r>
            <a:endParaRPr sz="10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6" name="Google Shape;266;p52"/>
          <p:cNvCxnSpPr/>
          <p:nvPr/>
        </p:nvCxnSpPr>
        <p:spPr>
          <a:xfrm rot="10800000">
            <a:off x="7112375" y="3561644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" name="Google Shape;268;p52"/>
          <p:cNvSpPr txBox="1"/>
          <p:nvPr/>
        </p:nvSpPr>
        <p:spPr>
          <a:xfrm>
            <a:off x="8030375" y="3195564"/>
            <a:ext cx="1100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Delivery schedules for after regular busines hours</a:t>
            </a:r>
            <a:endParaRPr sz="10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3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3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53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53"/>
          <p:cNvSpPr txBox="1"/>
          <p:nvPr/>
        </p:nvSpPr>
        <p:spPr>
          <a:xfrm>
            <a:off x="532875" y="1793800"/>
            <a:ext cx="2915400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Simple app for a local grocery store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Link: https://www.figma.com/proto/l3pK5mguvkgDNtfK0zjHjl/Grocery?node-id=1%3A31&amp;scaling=scale-down&amp;page-id=0%3A1&amp;starting-point-node-id=1%3A31</a:t>
            </a:r>
            <a:endParaRPr lang="en-US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BF80EA-FD72-6D2E-C6D9-16FD98EED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751" y="1078450"/>
            <a:ext cx="4624247" cy="36343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/>
        </p:nvSpPr>
        <p:spPr>
          <a:xfrm>
            <a:off x="517675" y="4481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Usability study: findings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532875" y="941391"/>
            <a:ext cx="7873500" cy="117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methodology I used was Unmoderated test for a maximum length of 15min. Was a prototype shown to 5 participants between the ages of 23-60 who reside in town. Who do their groceries at least once a week. All of them with different professional or none professional background.</a:t>
            </a:r>
          </a:p>
        </p:txBody>
      </p:sp>
      <p:sp>
        <p:nvSpPr>
          <p:cNvPr id="283" name="Google Shape;283;p54"/>
          <p:cNvSpPr txBox="1"/>
          <p:nvPr/>
        </p:nvSpPr>
        <p:spPr>
          <a:xfrm>
            <a:off x="456675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1 findings</a:t>
            </a:r>
            <a:endParaRPr b="1">
              <a:solidFill>
                <a:srgbClr val="F29900"/>
              </a:solidFill>
            </a:endParaRPr>
          </a:p>
        </p:txBody>
      </p:sp>
      <p:sp>
        <p:nvSpPr>
          <p:cNvPr id="284" name="Google Shape;284;p54"/>
          <p:cNvSpPr/>
          <p:nvPr/>
        </p:nvSpPr>
        <p:spPr>
          <a:xfrm>
            <a:off x="4477900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54"/>
          <p:cNvSpPr txBox="1"/>
          <p:nvPr/>
        </p:nvSpPr>
        <p:spPr>
          <a:xfrm>
            <a:off x="4984525" y="2568500"/>
            <a:ext cx="3336000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Senior users needs biger fonts.</a:t>
            </a:r>
            <a:endParaRPr dirty="0"/>
          </a:p>
        </p:txBody>
      </p:sp>
      <p:sp>
        <p:nvSpPr>
          <p:cNvPr id="286" name="Google Shape;286;p54"/>
          <p:cNvSpPr/>
          <p:nvPr/>
        </p:nvSpPr>
        <p:spPr>
          <a:xfrm>
            <a:off x="4671550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7" name="Google Shape;287;p54"/>
          <p:cNvSpPr txBox="1"/>
          <p:nvPr/>
        </p:nvSpPr>
        <p:spPr>
          <a:xfrm>
            <a:off x="4978700" y="3147992"/>
            <a:ext cx="333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Color schema was to light at direct sun light.</a:t>
            </a:r>
            <a:endParaRPr dirty="0"/>
          </a:p>
        </p:txBody>
      </p:sp>
      <p:sp>
        <p:nvSpPr>
          <p:cNvPr id="288" name="Google Shape;288;p54"/>
          <p:cNvSpPr/>
          <p:nvPr/>
        </p:nvSpPr>
        <p:spPr>
          <a:xfrm>
            <a:off x="4671550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9" name="Google Shape;289;p54"/>
          <p:cNvSpPr txBox="1"/>
          <p:nvPr/>
        </p:nvSpPr>
        <p:spPr>
          <a:xfrm>
            <a:off x="4416900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2 findings</a:t>
            </a:r>
            <a:endParaRPr b="1">
              <a:solidFill>
                <a:srgbClr val="F29900"/>
              </a:solidFill>
            </a:endParaRPr>
          </a:p>
        </p:txBody>
      </p:sp>
      <p:sp>
        <p:nvSpPr>
          <p:cNvPr id="290" name="Google Shape;290;p54"/>
          <p:cNvSpPr txBox="1"/>
          <p:nvPr/>
        </p:nvSpPr>
        <p:spPr>
          <a:xfrm>
            <a:off x="4937363" y="3828150"/>
            <a:ext cx="333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Not all users´ had Credit or debit card.</a:t>
            </a:r>
            <a:endParaRPr dirty="0"/>
          </a:p>
        </p:txBody>
      </p:sp>
      <p:sp>
        <p:nvSpPr>
          <p:cNvPr id="291" name="Google Shape;291;p54"/>
          <p:cNvSpPr/>
          <p:nvPr/>
        </p:nvSpPr>
        <p:spPr>
          <a:xfrm>
            <a:off x="4671538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2" name="Google Shape;292;p54"/>
          <p:cNvSpPr/>
          <p:nvPr/>
        </p:nvSpPr>
        <p:spPr>
          <a:xfrm>
            <a:off x="456675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54"/>
          <p:cNvSpPr txBox="1"/>
          <p:nvPr/>
        </p:nvSpPr>
        <p:spPr>
          <a:xfrm>
            <a:off x="1019188" y="2555614"/>
            <a:ext cx="333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 Light"/>
              </a:rPr>
              <a:t>Users’ need a way to review their order.</a:t>
            </a:r>
            <a:endParaRPr lang="es-MX" dirty="0"/>
          </a:p>
        </p:txBody>
      </p:sp>
      <p:sp>
        <p:nvSpPr>
          <p:cNvPr id="294" name="Google Shape;294;p54"/>
          <p:cNvSpPr/>
          <p:nvPr/>
        </p:nvSpPr>
        <p:spPr>
          <a:xfrm>
            <a:off x="650325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5" name="Google Shape;295;p54"/>
          <p:cNvSpPr txBox="1"/>
          <p:nvPr/>
        </p:nvSpPr>
        <p:spPr>
          <a:xfrm>
            <a:off x="952363" y="2960284"/>
            <a:ext cx="3336000" cy="10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 Light"/>
              </a:rPr>
              <a:t>Users’ need a cues when they cancel a product.</a:t>
            </a:r>
          </a:p>
        </p:txBody>
      </p:sp>
      <p:sp>
        <p:nvSpPr>
          <p:cNvPr id="296" name="Google Shape;296;p54"/>
          <p:cNvSpPr/>
          <p:nvPr/>
        </p:nvSpPr>
        <p:spPr>
          <a:xfrm>
            <a:off x="650325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7" name="Google Shape;297;p54"/>
          <p:cNvSpPr txBox="1"/>
          <p:nvPr/>
        </p:nvSpPr>
        <p:spPr>
          <a:xfrm>
            <a:off x="952351" y="3828148"/>
            <a:ext cx="333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Users´need to add more than one item at the time.</a:t>
            </a:r>
            <a:endParaRPr dirty="0"/>
          </a:p>
        </p:txBody>
      </p:sp>
      <p:sp>
        <p:nvSpPr>
          <p:cNvPr id="298" name="Google Shape;298;p54"/>
          <p:cNvSpPr/>
          <p:nvPr/>
        </p:nvSpPr>
        <p:spPr>
          <a:xfrm>
            <a:off x="650313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853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/>
        </p:nvSpPr>
        <p:spPr>
          <a:xfrm>
            <a:off x="3721275" y="2048400"/>
            <a:ext cx="399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High-fidelity prototype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Accessibility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55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Refining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5" name="Google Shape;305;p55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DBC8DE4E-847E-1611-D421-E7F574C5A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69" y="1189387"/>
            <a:ext cx="2331121" cy="386438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5860862-14D5-0639-856F-5672456D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347" y="1189387"/>
            <a:ext cx="2311732" cy="3864387"/>
          </a:xfrm>
          <a:prstGeom prst="rect">
            <a:avLst/>
          </a:prstGeom>
        </p:spPr>
      </p:pic>
      <p:sp>
        <p:nvSpPr>
          <p:cNvPr id="310" name="Google Shape;310;p56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56"/>
          <p:cNvSpPr txBox="1"/>
          <p:nvPr/>
        </p:nvSpPr>
        <p:spPr>
          <a:xfrm>
            <a:off x="517675" y="1522550"/>
            <a:ext cx="24213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For senior user, the small font was too hard to read so I apply the Material Design for Android principles to typography and shadows. </a:t>
            </a:r>
            <a:r>
              <a:rPr lang="en-US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Also shortened text for readability</a:t>
            </a:r>
            <a:endParaRPr dirty="0"/>
          </a:p>
        </p:txBody>
      </p:sp>
      <p:sp>
        <p:nvSpPr>
          <p:cNvPr id="316" name="Google Shape;316;p56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17" name="Google Shape;317;p56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cxnSp>
        <p:nvCxnSpPr>
          <p:cNvPr id="315" name="Google Shape;315;p56"/>
          <p:cNvCxnSpPr>
            <a:cxnSpLocks/>
          </p:cNvCxnSpPr>
          <p:nvPr/>
        </p:nvCxnSpPr>
        <p:spPr>
          <a:xfrm>
            <a:off x="5735358" y="3387712"/>
            <a:ext cx="1300065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315;p56">
            <a:extLst>
              <a:ext uri="{FF2B5EF4-FFF2-40B4-BE49-F238E27FC236}">
                <a16:creationId xmlns:a16="http://schemas.microsoft.com/office/drawing/2014/main" id="{62F8B409-BD43-6754-81AC-E1DCE2D4ECF7}"/>
              </a:ext>
            </a:extLst>
          </p:cNvPr>
          <p:cNvCxnSpPr>
            <a:cxnSpLocks/>
          </p:cNvCxnSpPr>
          <p:nvPr/>
        </p:nvCxnSpPr>
        <p:spPr>
          <a:xfrm>
            <a:off x="5605703" y="4147437"/>
            <a:ext cx="1300065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15;p56">
            <a:extLst>
              <a:ext uri="{FF2B5EF4-FFF2-40B4-BE49-F238E27FC236}">
                <a16:creationId xmlns:a16="http://schemas.microsoft.com/office/drawing/2014/main" id="{82BE7ABA-B392-CD6E-559A-C5C151163289}"/>
              </a:ext>
            </a:extLst>
          </p:cNvPr>
          <p:cNvCxnSpPr>
            <a:cxnSpLocks/>
          </p:cNvCxnSpPr>
          <p:nvPr/>
        </p:nvCxnSpPr>
        <p:spPr>
          <a:xfrm>
            <a:off x="5735358" y="3080636"/>
            <a:ext cx="1300065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15;p56">
            <a:extLst>
              <a:ext uri="{FF2B5EF4-FFF2-40B4-BE49-F238E27FC236}">
                <a16:creationId xmlns:a16="http://schemas.microsoft.com/office/drawing/2014/main" id="{60F30B74-7540-3292-2F1D-0C3D501320A4}"/>
              </a:ext>
            </a:extLst>
          </p:cNvPr>
          <p:cNvCxnSpPr>
            <a:cxnSpLocks/>
          </p:cNvCxnSpPr>
          <p:nvPr/>
        </p:nvCxnSpPr>
        <p:spPr>
          <a:xfrm>
            <a:off x="4833353" y="2203260"/>
            <a:ext cx="2256659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15;p56">
            <a:extLst>
              <a:ext uri="{FF2B5EF4-FFF2-40B4-BE49-F238E27FC236}">
                <a16:creationId xmlns:a16="http://schemas.microsoft.com/office/drawing/2014/main" id="{DD035AE6-BE63-BAC9-E3F7-39CF50097645}"/>
              </a:ext>
            </a:extLst>
          </p:cNvPr>
          <p:cNvCxnSpPr>
            <a:cxnSpLocks/>
          </p:cNvCxnSpPr>
          <p:nvPr/>
        </p:nvCxnSpPr>
        <p:spPr>
          <a:xfrm>
            <a:off x="5502094" y="2355661"/>
            <a:ext cx="1587918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15;p56">
            <a:extLst>
              <a:ext uri="{FF2B5EF4-FFF2-40B4-BE49-F238E27FC236}">
                <a16:creationId xmlns:a16="http://schemas.microsoft.com/office/drawing/2014/main" id="{AA773EEB-8C12-E704-5ACD-03CD15D0093A}"/>
              </a:ext>
            </a:extLst>
          </p:cNvPr>
          <p:cNvCxnSpPr>
            <a:cxnSpLocks/>
          </p:cNvCxnSpPr>
          <p:nvPr/>
        </p:nvCxnSpPr>
        <p:spPr>
          <a:xfrm>
            <a:off x="5450021" y="2872853"/>
            <a:ext cx="2113357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57"/>
          <p:cNvSpPr txBox="1"/>
          <p:nvPr/>
        </p:nvSpPr>
        <p:spPr>
          <a:xfrm>
            <a:off x="517675" y="1522550"/>
            <a:ext cx="2421300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effectLst/>
                <a:latin typeface="Roboto" panose="02000000000000000000" pitchFamily="2" charset="0"/>
              </a:rPr>
              <a:t>The initial wireframe and prototype </a:t>
            </a:r>
            <a:r>
              <a:rPr lang="en-US" b="0" dirty="0">
                <a:solidFill>
                  <a:srgbClr val="1D75CD"/>
                </a:solidFill>
                <a:effectLst/>
                <a:latin typeface="Roboto" panose="02000000000000000000" pitchFamily="2" charset="0"/>
              </a:rPr>
              <a:t>didn´t</a:t>
            </a:r>
            <a:r>
              <a:rPr lang="en-US" b="0" dirty="0">
                <a:effectLst/>
                <a:latin typeface="Roboto" panose="02000000000000000000" pitchFamily="2" charset="0"/>
              </a:rPr>
              <a:t> consider this page as result from the usability test, I find this pain point to resolve.</a:t>
            </a:r>
            <a:endParaRPr dirty="0"/>
          </a:p>
        </p:txBody>
      </p:sp>
      <p:sp>
        <p:nvSpPr>
          <p:cNvPr id="325" name="Google Shape;325;p57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57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7" name="Google Shape;327;p57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57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29" name="Google Shape;329;p57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67D2"/>
              </a:solidFill>
            </a:endParaRPr>
          </a:p>
        </p:txBody>
      </p:sp>
      <p:sp>
        <p:nvSpPr>
          <p:cNvPr id="331" name="Google Shape;331;p57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26FDC1-2781-0D33-1A59-B9C6AD3A1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233" y="1203730"/>
            <a:ext cx="1970710" cy="32205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A1A118-C0C6-5AB7-C622-45D298BFC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248" y="1191376"/>
            <a:ext cx="2005048" cy="33281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/>
        </p:nvSpPr>
        <p:spPr>
          <a:xfrm>
            <a:off x="531000" y="555525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u="sng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58"/>
          <p:cNvSpPr/>
          <p:nvPr/>
        </p:nvSpPr>
        <p:spPr>
          <a:xfrm>
            <a:off x="531000" y="1391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58"/>
          <p:cNvSpPr/>
          <p:nvPr/>
        </p:nvSpPr>
        <p:spPr>
          <a:xfrm>
            <a:off x="2601788" y="1413675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58"/>
          <p:cNvSpPr/>
          <p:nvPr/>
        </p:nvSpPr>
        <p:spPr>
          <a:xfrm>
            <a:off x="469795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58"/>
          <p:cNvSpPr/>
          <p:nvPr/>
        </p:nvSpPr>
        <p:spPr>
          <a:xfrm>
            <a:off x="679410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58"/>
          <p:cNvSpPr txBox="1"/>
          <p:nvPr/>
        </p:nvSpPr>
        <p:spPr>
          <a:xfrm>
            <a:off x="89025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58"/>
          <p:cNvSpPr txBox="1"/>
          <p:nvPr/>
        </p:nvSpPr>
        <p:spPr>
          <a:xfrm>
            <a:off x="505720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58"/>
          <p:cNvSpPr txBox="1"/>
          <p:nvPr/>
        </p:nvSpPr>
        <p:spPr>
          <a:xfrm>
            <a:off x="7160550" y="2757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D571D4B-6092-9EFD-D1DA-5486A716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21" y="1391850"/>
            <a:ext cx="1905021" cy="337369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C064E28-E63A-4E7C-9770-9056A96C5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997" y="1361072"/>
            <a:ext cx="1886537" cy="337369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48E19445-AC7E-0985-0E53-5F2E0F002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13" y="1361071"/>
            <a:ext cx="2017518" cy="3508487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EC5D070-664A-C47B-5843-4833E9965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541" y="1361071"/>
            <a:ext cx="1925438" cy="34593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59"/>
          <p:cNvSpPr txBox="1"/>
          <p:nvPr/>
        </p:nvSpPr>
        <p:spPr>
          <a:xfrm>
            <a:off x="517675" y="524350"/>
            <a:ext cx="7000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High-fidelity</a:t>
            </a:r>
            <a:b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prototype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59"/>
          <p:cNvSpPr txBox="1"/>
          <p:nvPr/>
        </p:nvSpPr>
        <p:spPr>
          <a:xfrm>
            <a:off x="532875" y="1793800"/>
            <a:ext cx="222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high-fidelity prototype]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59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Accessibility considerations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60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60"/>
          <p:cNvSpPr txBox="1"/>
          <p:nvPr/>
        </p:nvSpPr>
        <p:spPr>
          <a:xfrm>
            <a:off x="711325" y="1917800"/>
            <a:ext cx="20490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 Icons and text to draw users´ attention</a:t>
            </a:r>
            <a:endParaRPr sz="1200" dirty="0"/>
          </a:p>
        </p:txBody>
      </p:sp>
      <p:sp>
        <p:nvSpPr>
          <p:cNvPr id="360" name="Google Shape;360;p60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60"/>
          <p:cNvSpPr txBox="1"/>
          <p:nvPr/>
        </p:nvSpPr>
        <p:spPr>
          <a:xfrm>
            <a:off x="3368925" y="1917800"/>
            <a:ext cx="20490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Luminosity contrast at least of 4.5:1 to improve the readability</a:t>
            </a:r>
            <a:endParaRPr sz="1200" dirty="0"/>
          </a:p>
        </p:txBody>
      </p:sp>
      <p:sp>
        <p:nvSpPr>
          <p:cNvPr id="362" name="Google Shape;362;p60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60"/>
          <p:cNvSpPr txBox="1"/>
          <p:nvPr/>
        </p:nvSpPr>
        <p:spPr>
          <a:xfrm>
            <a:off x="6026525" y="1917800"/>
            <a:ext cx="20490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Infrement font size and letter spacing to improve readability.</a:t>
            </a:r>
            <a:endParaRPr sz="1200" dirty="0"/>
          </a:p>
        </p:txBody>
      </p:sp>
      <p:sp>
        <p:nvSpPr>
          <p:cNvPr id="364" name="Google Shape;364;p60"/>
          <p:cNvSpPr/>
          <p:nvPr/>
        </p:nvSpPr>
        <p:spPr>
          <a:xfrm>
            <a:off x="14791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5" name="Google Shape;365;p60"/>
          <p:cNvSpPr/>
          <p:nvPr/>
        </p:nvSpPr>
        <p:spPr>
          <a:xfrm>
            <a:off x="41367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6" name="Google Shape;366;p60"/>
          <p:cNvSpPr/>
          <p:nvPr/>
        </p:nvSpPr>
        <p:spPr>
          <a:xfrm>
            <a:off x="67943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6368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/>
        </p:nvSpPr>
        <p:spPr>
          <a:xfrm>
            <a:off x="3721275" y="2210100"/>
            <a:ext cx="2275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61"/>
          <p:cNvSpPr txBox="1"/>
          <p:nvPr/>
        </p:nvSpPr>
        <p:spPr>
          <a:xfrm>
            <a:off x="-468875" y="22947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Going forward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3" name="Google Shape;373;p61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62"/>
          <p:cNvSpPr txBox="1"/>
          <p:nvPr/>
        </p:nvSpPr>
        <p:spPr>
          <a:xfrm>
            <a:off x="539600" y="2237975"/>
            <a:ext cx="3446100" cy="161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Impact: </a:t>
            </a:r>
            <a:endParaRPr dirty="0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 create an app that can open and explore the online grocery shopping for my small town, improve revenues, and increase customer satisfaction and loyalty.</a:t>
            </a:r>
          </a:p>
        </p:txBody>
      </p:sp>
      <p:sp>
        <p:nvSpPr>
          <p:cNvPr id="380" name="Google Shape;380;p62"/>
          <p:cNvSpPr/>
          <p:nvPr/>
        </p:nvSpPr>
        <p:spPr>
          <a:xfrm>
            <a:off x="5396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62"/>
          <p:cNvSpPr txBox="1"/>
          <p:nvPr/>
        </p:nvSpPr>
        <p:spPr>
          <a:xfrm>
            <a:off x="4495800" y="2237975"/>
            <a:ext cx="3446100" cy="189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What I learned:</a:t>
            </a:r>
            <a:endParaRPr dirty="0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UX design involves more steps than just Create pleasant graphics It's a whole process that ends in a high-fidelity prototype before going to die UI stage. Always keeping the user front and center.</a:t>
            </a:r>
            <a:endParaRPr sz="1200" b="1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62"/>
          <p:cNvSpPr/>
          <p:nvPr/>
        </p:nvSpPr>
        <p:spPr>
          <a:xfrm>
            <a:off x="44958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62"/>
          <p:cNvSpPr/>
          <p:nvPr/>
        </p:nvSpPr>
        <p:spPr>
          <a:xfrm>
            <a:off x="679050" y="1660250"/>
            <a:ext cx="234394" cy="260801"/>
          </a:xfrm>
          <a:custGeom>
            <a:avLst/>
            <a:gdLst/>
            <a:ahLst/>
            <a:cxnLst/>
            <a:rect l="l" t="t" r="r" b="b"/>
            <a:pathLst>
              <a:path w="941" h="1045" extrusionOk="0">
                <a:moveTo>
                  <a:pt x="833" y="105"/>
                </a:moveTo>
                <a:lnTo>
                  <a:pt x="616" y="105"/>
                </a:lnTo>
                <a:cubicBezTo>
                  <a:pt x="593" y="45"/>
                  <a:pt x="536" y="0"/>
                  <a:pt x="469" y="0"/>
                </a:cubicBezTo>
                <a:cubicBezTo>
                  <a:pt x="401" y="0"/>
                  <a:pt x="345" y="45"/>
                  <a:pt x="322" y="105"/>
                </a:cubicBezTo>
                <a:lnTo>
                  <a:pt x="105" y="105"/>
                </a:lnTo>
                <a:cubicBezTo>
                  <a:pt x="48" y="105"/>
                  <a:pt x="0" y="153"/>
                  <a:pt x="0" y="209"/>
                </a:cubicBezTo>
                <a:lnTo>
                  <a:pt x="0" y="940"/>
                </a:lnTo>
                <a:cubicBezTo>
                  <a:pt x="0" y="997"/>
                  <a:pt x="48" y="1044"/>
                  <a:pt x="105" y="1044"/>
                </a:cubicBezTo>
                <a:lnTo>
                  <a:pt x="836" y="1044"/>
                </a:lnTo>
                <a:cubicBezTo>
                  <a:pt x="892" y="1044"/>
                  <a:pt x="940" y="997"/>
                  <a:pt x="940" y="940"/>
                </a:cubicBezTo>
                <a:lnTo>
                  <a:pt x="940" y="209"/>
                </a:lnTo>
                <a:cubicBezTo>
                  <a:pt x="937" y="153"/>
                  <a:pt x="889" y="105"/>
                  <a:pt x="833" y="105"/>
                </a:cubicBezTo>
                <a:close/>
                <a:moveTo>
                  <a:pt x="466" y="105"/>
                </a:moveTo>
                <a:cubicBezTo>
                  <a:pt x="494" y="105"/>
                  <a:pt x="520" y="127"/>
                  <a:pt x="520" y="158"/>
                </a:cubicBezTo>
                <a:cubicBezTo>
                  <a:pt x="520" y="187"/>
                  <a:pt x="497" y="212"/>
                  <a:pt x="466" y="212"/>
                </a:cubicBezTo>
                <a:cubicBezTo>
                  <a:pt x="435" y="212"/>
                  <a:pt x="412" y="189"/>
                  <a:pt x="412" y="158"/>
                </a:cubicBezTo>
                <a:cubicBezTo>
                  <a:pt x="415" y="127"/>
                  <a:pt x="438" y="105"/>
                  <a:pt x="466" y="105"/>
                </a:cubicBezTo>
                <a:close/>
                <a:moveTo>
                  <a:pt x="362" y="836"/>
                </a:moveTo>
                <a:lnTo>
                  <a:pt x="153" y="627"/>
                </a:lnTo>
                <a:lnTo>
                  <a:pt x="226" y="553"/>
                </a:lnTo>
                <a:lnTo>
                  <a:pt x="362" y="689"/>
                </a:lnTo>
                <a:lnTo>
                  <a:pt x="706" y="345"/>
                </a:lnTo>
                <a:lnTo>
                  <a:pt x="779" y="418"/>
                </a:lnTo>
                <a:lnTo>
                  <a:pt x="362" y="8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62"/>
          <p:cNvGrpSpPr/>
          <p:nvPr/>
        </p:nvGrpSpPr>
        <p:grpSpPr>
          <a:xfrm>
            <a:off x="4605678" y="1676963"/>
            <a:ext cx="293543" cy="227362"/>
            <a:chOff x="420350" y="238125"/>
            <a:chExt cx="6779275" cy="5238750"/>
          </a:xfrm>
        </p:grpSpPr>
        <p:sp>
          <p:nvSpPr>
            <p:cNvPr id="385" name="Google Shape;385;p62"/>
            <p:cNvSpPr/>
            <p:nvPr/>
          </p:nvSpPr>
          <p:spPr>
            <a:xfrm>
              <a:off x="420350" y="238125"/>
              <a:ext cx="6779275" cy="5238750"/>
            </a:xfrm>
            <a:custGeom>
              <a:avLst/>
              <a:gdLst/>
              <a:ahLst/>
              <a:cxnLst/>
              <a:rect l="l" t="t" r="r" b="b"/>
              <a:pathLst>
                <a:path w="271171" h="209550" extrusionOk="0">
                  <a:moveTo>
                    <a:pt x="203423" y="24684"/>
                  </a:moveTo>
                  <a:lnTo>
                    <a:pt x="208928" y="24773"/>
                  </a:lnTo>
                  <a:lnTo>
                    <a:pt x="214433" y="25039"/>
                  </a:lnTo>
                  <a:lnTo>
                    <a:pt x="219938" y="25483"/>
                  </a:lnTo>
                  <a:lnTo>
                    <a:pt x="225443" y="26105"/>
                  </a:lnTo>
                  <a:lnTo>
                    <a:pt x="228107" y="26549"/>
                  </a:lnTo>
                  <a:lnTo>
                    <a:pt x="230859" y="26993"/>
                  </a:lnTo>
                  <a:lnTo>
                    <a:pt x="233523" y="27437"/>
                  </a:lnTo>
                  <a:lnTo>
                    <a:pt x="236187" y="28058"/>
                  </a:lnTo>
                  <a:lnTo>
                    <a:pt x="238762" y="28680"/>
                  </a:lnTo>
                  <a:lnTo>
                    <a:pt x="241426" y="29301"/>
                  </a:lnTo>
                  <a:lnTo>
                    <a:pt x="244001" y="30012"/>
                  </a:lnTo>
                  <a:lnTo>
                    <a:pt x="246576" y="30811"/>
                  </a:lnTo>
                  <a:lnTo>
                    <a:pt x="246576" y="172612"/>
                  </a:lnTo>
                  <a:lnTo>
                    <a:pt x="244001" y="171813"/>
                  </a:lnTo>
                  <a:lnTo>
                    <a:pt x="241426" y="171103"/>
                  </a:lnTo>
                  <a:lnTo>
                    <a:pt x="238762" y="170393"/>
                  </a:lnTo>
                  <a:lnTo>
                    <a:pt x="236187" y="169771"/>
                  </a:lnTo>
                  <a:lnTo>
                    <a:pt x="233523" y="169238"/>
                  </a:lnTo>
                  <a:lnTo>
                    <a:pt x="230859" y="168706"/>
                  </a:lnTo>
                  <a:lnTo>
                    <a:pt x="228107" y="168262"/>
                  </a:lnTo>
                  <a:lnTo>
                    <a:pt x="225443" y="167906"/>
                  </a:lnTo>
                  <a:lnTo>
                    <a:pt x="219938" y="167196"/>
                  </a:lnTo>
                  <a:lnTo>
                    <a:pt x="214433" y="166752"/>
                  </a:lnTo>
                  <a:lnTo>
                    <a:pt x="208928" y="166486"/>
                  </a:lnTo>
                  <a:lnTo>
                    <a:pt x="203423" y="166397"/>
                  </a:lnTo>
                  <a:lnTo>
                    <a:pt x="199338" y="166486"/>
                  </a:lnTo>
                  <a:lnTo>
                    <a:pt x="195165" y="166752"/>
                  </a:lnTo>
                  <a:lnTo>
                    <a:pt x="190814" y="167196"/>
                  </a:lnTo>
                  <a:lnTo>
                    <a:pt x="186286" y="167818"/>
                  </a:lnTo>
                  <a:lnTo>
                    <a:pt x="181757" y="168617"/>
                  </a:lnTo>
                  <a:lnTo>
                    <a:pt x="177140" y="169505"/>
                  </a:lnTo>
                  <a:lnTo>
                    <a:pt x="172523" y="170570"/>
                  </a:lnTo>
                  <a:lnTo>
                    <a:pt x="167906" y="171724"/>
                  </a:lnTo>
                  <a:lnTo>
                    <a:pt x="163289" y="173056"/>
                  </a:lnTo>
                  <a:lnTo>
                    <a:pt x="158849" y="174477"/>
                  </a:lnTo>
                  <a:lnTo>
                    <a:pt x="154498" y="175986"/>
                  </a:lnTo>
                  <a:lnTo>
                    <a:pt x="150236" y="177585"/>
                  </a:lnTo>
                  <a:lnTo>
                    <a:pt x="146241" y="179272"/>
                  </a:lnTo>
                  <a:lnTo>
                    <a:pt x="142422" y="181136"/>
                  </a:lnTo>
                  <a:lnTo>
                    <a:pt x="138871" y="183001"/>
                  </a:lnTo>
                  <a:lnTo>
                    <a:pt x="135586" y="184866"/>
                  </a:lnTo>
                  <a:lnTo>
                    <a:pt x="135586" y="43153"/>
                  </a:lnTo>
                  <a:lnTo>
                    <a:pt x="138871" y="41200"/>
                  </a:lnTo>
                  <a:lnTo>
                    <a:pt x="142422" y="39335"/>
                  </a:lnTo>
                  <a:lnTo>
                    <a:pt x="146241" y="37559"/>
                  </a:lnTo>
                  <a:lnTo>
                    <a:pt x="150236" y="35783"/>
                  </a:lnTo>
                  <a:lnTo>
                    <a:pt x="154498" y="34185"/>
                  </a:lnTo>
                  <a:lnTo>
                    <a:pt x="158849" y="32676"/>
                  </a:lnTo>
                  <a:lnTo>
                    <a:pt x="163289" y="31255"/>
                  </a:lnTo>
                  <a:lnTo>
                    <a:pt x="167906" y="29923"/>
                  </a:lnTo>
                  <a:lnTo>
                    <a:pt x="172523" y="28769"/>
                  </a:lnTo>
                  <a:lnTo>
                    <a:pt x="177140" y="27703"/>
                  </a:lnTo>
                  <a:lnTo>
                    <a:pt x="181757" y="26815"/>
                  </a:lnTo>
                  <a:lnTo>
                    <a:pt x="186286" y="26016"/>
                  </a:lnTo>
                  <a:lnTo>
                    <a:pt x="190814" y="25483"/>
                  </a:lnTo>
                  <a:lnTo>
                    <a:pt x="195165" y="25039"/>
                  </a:lnTo>
                  <a:lnTo>
                    <a:pt x="199338" y="24773"/>
                  </a:lnTo>
                  <a:lnTo>
                    <a:pt x="203423" y="24684"/>
                  </a:lnTo>
                  <a:close/>
                  <a:moveTo>
                    <a:pt x="67748" y="0"/>
                  </a:moveTo>
                  <a:lnTo>
                    <a:pt x="63220" y="89"/>
                  </a:lnTo>
                  <a:lnTo>
                    <a:pt x="58692" y="266"/>
                  </a:lnTo>
                  <a:lnTo>
                    <a:pt x="54163" y="533"/>
                  </a:lnTo>
                  <a:lnTo>
                    <a:pt x="49546" y="977"/>
                  </a:lnTo>
                  <a:lnTo>
                    <a:pt x="45018" y="1509"/>
                  </a:lnTo>
                  <a:lnTo>
                    <a:pt x="40489" y="2220"/>
                  </a:lnTo>
                  <a:lnTo>
                    <a:pt x="35961" y="3108"/>
                  </a:lnTo>
                  <a:lnTo>
                    <a:pt x="31610" y="4173"/>
                  </a:lnTo>
                  <a:lnTo>
                    <a:pt x="27259" y="5328"/>
                  </a:lnTo>
                  <a:lnTo>
                    <a:pt x="22908" y="6659"/>
                  </a:lnTo>
                  <a:lnTo>
                    <a:pt x="18824" y="8169"/>
                  </a:lnTo>
                  <a:lnTo>
                    <a:pt x="16782" y="8968"/>
                  </a:lnTo>
                  <a:lnTo>
                    <a:pt x="14739" y="9856"/>
                  </a:lnTo>
                  <a:lnTo>
                    <a:pt x="12786" y="10744"/>
                  </a:lnTo>
                  <a:lnTo>
                    <a:pt x="10833" y="11721"/>
                  </a:lnTo>
                  <a:lnTo>
                    <a:pt x="8879" y="12697"/>
                  </a:lnTo>
                  <a:lnTo>
                    <a:pt x="7015" y="13763"/>
                  </a:lnTo>
                  <a:lnTo>
                    <a:pt x="5239" y="14917"/>
                  </a:lnTo>
                  <a:lnTo>
                    <a:pt x="3463" y="16071"/>
                  </a:lnTo>
                  <a:lnTo>
                    <a:pt x="1687" y="17226"/>
                  </a:lnTo>
                  <a:lnTo>
                    <a:pt x="0" y="18469"/>
                  </a:lnTo>
                  <a:lnTo>
                    <a:pt x="0" y="199073"/>
                  </a:lnTo>
                  <a:lnTo>
                    <a:pt x="0" y="199694"/>
                  </a:lnTo>
                  <a:lnTo>
                    <a:pt x="89" y="200227"/>
                  </a:lnTo>
                  <a:lnTo>
                    <a:pt x="266" y="200760"/>
                  </a:lnTo>
                  <a:lnTo>
                    <a:pt x="533" y="201381"/>
                  </a:lnTo>
                  <a:lnTo>
                    <a:pt x="799" y="201914"/>
                  </a:lnTo>
                  <a:lnTo>
                    <a:pt x="1154" y="202358"/>
                  </a:lnTo>
                  <a:lnTo>
                    <a:pt x="1865" y="203335"/>
                  </a:lnTo>
                  <a:lnTo>
                    <a:pt x="2841" y="204134"/>
                  </a:lnTo>
                  <a:lnTo>
                    <a:pt x="3374" y="204400"/>
                  </a:lnTo>
                  <a:lnTo>
                    <a:pt x="3907" y="204755"/>
                  </a:lnTo>
                  <a:lnTo>
                    <a:pt x="4440" y="204933"/>
                  </a:lnTo>
                  <a:lnTo>
                    <a:pt x="4972" y="205110"/>
                  </a:lnTo>
                  <a:lnTo>
                    <a:pt x="5594" y="205199"/>
                  </a:lnTo>
                  <a:lnTo>
                    <a:pt x="6127" y="205288"/>
                  </a:lnTo>
                  <a:lnTo>
                    <a:pt x="6571" y="205199"/>
                  </a:lnTo>
                  <a:lnTo>
                    <a:pt x="7015" y="205110"/>
                  </a:lnTo>
                  <a:lnTo>
                    <a:pt x="7725" y="204933"/>
                  </a:lnTo>
                  <a:lnTo>
                    <a:pt x="8435" y="204755"/>
                  </a:lnTo>
                  <a:lnTo>
                    <a:pt x="8790" y="204666"/>
                  </a:lnTo>
                  <a:lnTo>
                    <a:pt x="9234" y="204666"/>
                  </a:lnTo>
                  <a:lnTo>
                    <a:pt x="12431" y="203157"/>
                  </a:lnTo>
                  <a:lnTo>
                    <a:pt x="15805" y="201736"/>
                  </a:lnTo>
                  <a:lnTo>
                    <a:pt x="19268" y="200404"/>
                  </a:lnTo>
                  <a:lnTo>
                    <a:pt x="22908" y="199161"/>
                  </a:lnTo>
                  <a:lnTo>
                    <a:pt x="26549" y="197918"/>
                  </a:lnTo>
                  <a:lnTo>
                    <a:pt x="30367" y="196853"/>
                  </a:lnTo>
                  <a:lnTo>
                    <a:pt x="34185" y="195787"/>
                  </a:lnTo>
                  <a:lnTo>
                    <a:pt x="38003" y="194810"/>
                  </a:lnTo>
                  <a:lnTo>
                    <a:pt x="41910" y="194011"/>
                  </a:lnTo>
                  <a:lnTo>
                    <a:pt x="45817" y="193212"/>
                  </a:lnTo>
                  <a:lnTo>
                    <a:pt x="49635" y="192591"/>
                  </a:lnTo>
                  <a:lnTo>
                    <a:pt x="53453" y="192058"/>
                  </a:lnTo>
                  <a:lnTo>
                    <a:pt x="57182" y="191614"/>
                  </a:lnTo>
                  <a:lnTo>
                    <a:pt x="60823" y="191348"/>
                  </a:lnTo>
                  <a:lnTo>
                    <a:pt x="64374" y="191170"/>
                  </a:lnTo>
                  <a:lnTo>
                    <a:pt x="67748" y="191081"/>
                  </a:lnTo>
                  <a:lnTo>
                    <a:pt x="72277" y="191170"/>
                  </a:lnTo>
                  <a:lnTo>
                    <a:pt x="76894" y="191348"/>
                  </a:lnTo>
                  <a:lnTo>
                    <a:pt x="81422" y="191614"/>
                  </a:lnTo>
                  <a:lnTo>
                    <a:pt x="86040" y="192058"/>
                  </a:lnTo>
                  <a:lnTo>
                    <a:pt x="90568" y="192591"/>
                  </a:lnTo>
                  <a:lnTo>
                    <a:pt x="95096" y="193390"/>
                  </a:lnTo>
                  <a:lnTo>
                    <a:pt x="99536" y="194189"/>
                  </a:lnTo>
                  <a:lnTo>
                    <a:pt x="103976" y="195254"/>
                  </a:lnTo>
                  <a:lnTo>
                    <a:pt x="108326" y="196409"/>
                  </a:lnTo>
                  <a:lnTo>
                    <a:pt x="112588" y="197741"/>
                  </a:lnTo>
                  <a:lnTo>
                    <a:pt x="116762" y="199250"/>
                  </a:lnTo>
                  <a:lnTo>
                    <a:pt x="118804" y="200049"/>
                  </a:lnTo>
                  <a:lnTo>
                    <a:pt x="120846" y="200937"/>
                  </a:lnTo>
                  <a:lnTo>
                    <a:pt x="122799" y="201825"/>
                  </a:lnTo>
                  <a:lnTo>
                    <a:pt x="124753" y="202802"/>
                  </a:lnTo>
                  <a:lnTo>
                    <a:pt x="126618" y="203867"/>
                  </a:lnTo>
                  <a:lnTo>
                    <a:pt x="128482" y="204844"/>
                  </a:lnTo>
                  <a:lnTo>
                    <a:pt x="130347" y="205998"/>
                  </a:lnTo>
                  <a:lnTo>
                    <a:pt x="132123" y="207153"/>
                  </a:lnTo>
                  <a:lnTo>
                    <a:pt x="133898" y="208307"/>
                  </a:lnTo>
                  <a:lnTo>
                    <a:pt x="135586" y="209550"/>
                  </a:lnTo>
                  <a:lnTo>
                    <a:pt x="138871" y="207597"/>
                  </a:lnTo>
                  <a:lnTo>
                    <a:pt x="142422" y="205732"/>
                  </a:lnTo>
                  <a:lnTo>
                    <a:pt x="146241" y="203956"/>
                  </a:lnTo>
                  <a:lnTo>
                    <a:pt x="150236" y="202269"/>
                  </a:lnTo>
                  <a:lnTo>
                    <a:pt x="154498" y="200671"/>
                  </a:lnTo>
                  <a:lnTo>
                    <a:pt x="158849" y="199073"/>
                  </a:lnTo>
                  <a:lnTo>
                    <a:pt x="163289" y="197652"/>
                  </a:lnTo>
                  <a:lnTo>
                    <a:pt x="167906" y="196409"/>
                  </a:lnTo>
                  <a:lnTo>
                    <a:pt x="172523" y="195166"/>
                  </a:lnTo>
                  <a:lnTo>
                    <a:pt x="177140" y="194189"/>
                  </a:lnTo>
                  <a:lnTo>
                    <a:pt x="181757" y="193212"/>
                  </a:lnTo>
                  <a:lnTo>
                    <a:pt x="186286" y="192502"/>
                  </a:lnTo>
                  <a:lnTo>
                    <a:pt x="190814" y="191880"/>
                  </a:lnTo>
                  <a:lnTo>
                    <a:pt x="195165" y="191436"/>
                  </a:lnTo>
                  <a:lnTo>
                    <a:pt x="199338" y="191170"/>
                  </a:lnTo>
                  <a:lnTo>
                    <a:pt x="203423" y="191081"/>
                  </a:lnTo>
                  <a:lnTo>
                    <a:pt x="207241" y="191081"/>
                  </a:lnTo>
                  <a:lnTo>
                    <a:pt x="211059" y="191259"/>
                  </a:lnTo>
                  <a:lnTo>
                    <a:pt x="214877" y="191436"/>
                  </a:lnTo>
                  <a:lnTo>
                    <a:pt x="218695" y="191792"/>
                  </a:lnTo>
                  <a:lnTo>
                    <a:pt x="222513" y="192235"/>
                  </a:lnTo>
                  <a:lnTo>
                    <a:pt x="226331" y="192768"/>
                  </a:lnTo>
                  <a:lnTo>
                    <a:pt x="230060" y="193390"/>
                  </a:lnTo>
                  <a:lnTo>
                    <a:pt x="233790" y="194100"/>
                  </a:lnTo>
                  <a:lnTo>
                    <a:pt x="237519" y="194899"/>
                  </a:lnTo>
                  <a:lnTo>
                    <a:pt x="241159" y="195876"/>
                  </a:lnTo>
                  <a:lnTo>
                    <a:pt x="244800" y="196941"/>
                  </a:lnTo>
                  <a:lnTo>
                    <a:pt x="248351" y="198096"/>
                  </a:lnTo>
                  <a:lnTo>
                    <a:pt x="251903" y="199428"/>
                  </a:lnTo>
                  <a:lnTo>
                    <a:pt x="255277" y="200848"/>
                  </a:lnTo>
                  <a:lnTo>
                    <a:pt x="258651" y="202358"/>
                  </a:lnTo>
                  <a:lnTo>
                    <a:pt x="261937" y="204045"/>
                  </a:lnTo>
                  <a:lnTo>
                    <a:pt x="262736" y="204400"/>
                  </a:lnTo>
                  <a:lnTo>
                    <a:pt x="263446" y="204578"/>
                  </a:lnTo>
                  <a:lnTo>
                    <a:pt x="264156" y="204666"/>
                  </a:lnTo>
                  <a:lnTo>
                    <a:pt x="265044" y="204666"/>
                  </a:lnTo>
                  <a:lnTo>
                    <a:pt x="265577" y="204578"/>
                  </a:lnTo>
                  <a:lnTo>
                    <a:pt x="266199" y="204489"/>
                  </a:lnTo>
                  <a:lnTo>
                    <a:pt x="266731" y="204311"/>
                  </a:lnTo>
                  <a:lnTo>
                    <a:pt x="267264" y="204134"/>
                  </a:lnTo>
                  <a:lnTo>
                    <a:pt x="267797" y="203867"/>
                  </a:lnTo>
                  <a:lnTo>
                    <a:pt x="268330" y="203512"/>
                  </a:lnTo>
                  <a:lnTo>
                    <a:pt x="269306" y="202713"/>
                  </a:lnTo>
                  <a:lnTo>
                    <a:pt x="270017" y="201736"/>
                  </a:lnTo>
                  <a:lnTo>
                    <a:pt x="270372" y="201292"/>
                  </a:lnTo>
                  <a:lnTo>
                    <a:pt x="270638" y="200760"/>
                  </a:lnTo>
                  <a:lnTo>
                    <a:pt x="270905" y="200138"/>
                  </a:lnTo>
                  <a:lnTo>
                    <a:pt x="271082" y="199605"/>
                  </a:lnTo>
                  <a:lnTo>
                    <a:pt x="271171" y="199073"/>
                  </a:lnTo>
                  <a:lnTo>
                    <a:pt x="271171" y="198451"/>
                  </a:lnTo>
                  <a:lnTo>
                    <a:pt x="271171" y="18469"/>
                  </a:lnTo>
                  <a:lnTo>
                    <a:pt x="268418" y="16515"/>
                  </a:lnTo>
                  <a:lnTo>
                    <a:pt x="265488" y="14651"/>
                  </a:lnTo>
                  <a:lnTo>
                    <a:pt x="262558" y="12964"/>
                  </a:lnTo>
                  <a:lnTo>
                    <a:pt x="259539" y="11365"/>
                  </a:lnTo>
                  <a:lnTo>
                    <a:pt x="256432" y="9945"/>
                  </a:lnTo>
                  <a:lnTo>
                    <a:pt x="253235" y="8613"/>
                  </a:lnTo>
                  <a:lnTo>
                    <a:pt x="249950" y="7370"/>
                  </a:lnTo>
                  <a:lnTo>
                    <a:pt x="246576" y="6127"/>
                  </a:lnTo>
                  <a:lnTo>
                    <a:pt x="243912" y="5328"/>
                  </a:lnTo>
                  <a:lnTo>
                    <a:pt x="241337" y="4617"/>
                  </a:lnTo>
                  <a:lnTo>
                    <a:pt x="238673" y="3996"/>
                  </a:lnTo>
                  <a:lnTo>
                    <a:pt x="236009" y="3374"/>
                  </a:lnTo>
                  <a:lnTo>
                    <a:pt x="233346" y="2841"/>
                  </a:lnTo>
                  <a:lnTo>
                    <a:pt x="230682" y="2309"/>
                  </a:lnTo>
                  <a:lnTo>
                    <a:pt x="225266" y="1421"/>
                  </a:lnTo>
                  <a:lnTo>
                    <a:pt x="219760" y="799"/>
                  </a:lnTo>
                  <a:lnTo>
                    <a:pt x="214255" y="355"/>
                  </a:lnTo>
                  <a:lnTo>
                    <a:pt x="208839" y="89"/>
                  </a:lnTo>
                  <a:lnTo>
                    <a:pt x="203423" y="0"/>
                  </a:lnTo>
                  <a:lnTo>
                    <a:pt x="198894" y="89"/>
                  </a:lnTo>
                  <a:lnTo>
                    <a:pt x="194277" y="266"/>
                  </a:lnTo>
                  <a:lnTo>
                    <a:pt x="189749" y="533"/>
                  </a:lnTo>
                  <a:lnTo>
                    <a:pt x="185131" y="977"/>
                  </a:lnTo>
                  <a:lnTo>
                    <a:pt x="180603" y="1509"/>
                  </a:lnTo>
                  <a:lnTo>
                    <a:pt x="176075" y="2220"/>
                  </a:lnTo>
                  <a:lnTo>
                    <a:pt x="171635" y="3108"/>
                  </a:lnTo>
                  <a:lnTo>
                    <a:pt x="167195" y="4173"/>
                  </a:lnTo>
                  <a:lnTo>
                    <a:pt x="162845" y="5328"/>
                  </a:lnTo>
                  <a:lnTo>
                    <a:pt x="158583" y="6659"/>
                  </a:lnTo>
                  <a:lnTo>
                    <a:pt x="154409" y="8169"/>
                  </a:lnTo>
                  <a:lnTo>
                    <a:pt x="152367" y="8968"/>
                  </a:lnTo>
                  <a:lnTo>
                    <a:pt x="150325" y="9856"/>
                  </a:lnTo>
                  <a:lnTo>
                    <a:pt x="148372" y="10744"/>
                  </a:lnTo>
                  <a:lnTo>
                    <a:pt x="146418" y="11721"/>
                  </a:lnTo>
                  <a:lnTo>
                    <a:pt x="144554" y="12697"/>
                  </a:lnTo>
                  <a:lnTo>
                    <a:pt x="142689" y="13763"/>
                  </a:lnTo>
                  <a:lnTo>
                    <a:pt x="140824" y="14917"/>
                  </a:lnTo>
                  <a:lnTo>
                    <a:pt x="139048" y="16071"/>
                  </a:lnTo>
                  <a:lnTo>
                    <a:pt x="137273" y="17226"/>
                  </a:lnTo>
                  <a:lnTo>
                    <a:pt x="135586" y="18469"/>
                  </a:lnTo>
                  <a:lnTo>
                    <a:pt x="133898" y="17226"/>
                  </a:lnTo>
                  <a:lnTo>
                    <a:pt x="132123" y="16071"/>
                  </a:lnTo>
                  <a:lnTo>
                    <a:pt x="130347" y="14917"/>
                  </a:lnTo>
                  <a:lnTo>
                    <a:pt x="128482" y="13763"/>
                  </a:lnTo>
                  <a:lnTo>
                    <a:pt x="126618" y="12697"/>
                  </a:lnTo>
                  <a:lnTo>
                    <a:pt x="124753" y="11721"/>
                  </a:lnTo>
                  <a:lnTo>
                    <a:pt x="122799" y="10744"/>
                  </a:lnTo>
                  <a:lnTo>
                    <a:pt x="120846" y="9856"/>
                  </a:lnTo>
                  <a:lnTo>
                    <a:pt x="118804" y="8968"/>
                  </a:lnTo>
                  <a:lnTo>
                    <a:pt x="116762" y="8169"/>
                  </a:lnTo>
                  <a:lnTo>
                    <a:pt x="112588" y="6659"/>
                  </a:lnTo>
                  <a:lnTo>
                    <a:pt x="108326" y="5328"/>
                  </a:lnTo>
                  <a:lnTo>
                    <a:pt x="103976" y="4173"/>
                  </a:lnTo>
                  <a:lnTo>
                    <a:pt x="99536" y="3108"/>
                  </a:lnTo>
                  <a:lnTo>
                    <a:pt x="95096" y="2220"/>
                  </a:lnTo>
                  <a:lnTo>
                    <a:pt x="90568" y="1509"/>
                  </a:lnTo>
                  <a:lnTo>
                    <a:pt x="86040" y="977"/>
                  </a:lnTo>
                  <a:lnTo>
                    <a:pt x="81422" y="533"/>
                  </a:lnTo>
                  <a:lnTo>
                    <a:pt x="76894" y="266"/>
                  </a:lnTo>
                  <a:lnTo>
                    <a:pt x="72277" y="89"/>
                  </a:lnTo>
                  <a:lnTo>
                    <a:pt x="677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2"/>
            <p:cNvSpPr/>
            <p:nvPr/>
          </p:nvSpPr>
          <p:spPr>
            <a:xfrm>
              <a:off x="4118525" y="162550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0"/>
                  </a:moveTo>
                  <a:lnTo>
                    <a:pt x="47682" y="178"/>
                  </a:lnTo>
                  <a:lnTo>
                    <a:pt x="43864" y="355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5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8"/>
                  </a:lnTo>
                  <a:lnTo>
                    <a:pt x="5950" y="7814"/>
                  </a:lnTo>
                  <a:lnTo>
                    <a:pt x="2931" y="8968"/>
                  </a:lnTo>
                  <a:lnTo>
                    <a:pt x="1" y="10211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29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6"/>
                  </a:lnTo>
                  <a:lnTo>
                    <a:pt x="31788" y="20245"/>
                  </a:lnTo>
                  <a:lnTo>
                    <a:pt x="35606" y="19712"/>
                  </a:lnTo>
                  <a:lnTo>
                    <a:pt x="39424" y="19268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9491" y="18469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8"/>
                  </a:lnTo>
                  <a:lnTo>
                    <a:pt x="75207" y="19712"/>
                  </a:lnTo>
                  <a:lnTo>
                    <a:pt x="79026" y="20245"/>
                  </a:lnTo>
                  <a:lnTo>
                    <a:pt x="82666" y="20955"/>
                  </a:lnTo>
                  <a:lnTo>
                    <a:pt x="86307" y="21666"/>
                  </a:lnTo>
                  <a:lnTo>
                    <a:pt x="86307" y="2930"/>
                  </a:lnTo>
                  <a:lnTo>
                    <a:pt x="82577" y="2309"/>
                  </a:lnTo>
                  <a:lnTo>
                    <a:pt x="78848" y="1687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444"/>
                  </a:lnTo>
                  <a:lnTo>
                    <a:pt x="63398" y="178"/>
                  </a:lnTo>
                  <a:lnTo>
                    <a:pt x="59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2"/>
            <p:cNvSpPr/>
            <p:nvPr/>
          </p:nvSpPr>
          <p:spPr>
            <a:xfrm>
              <a:off x="4118525" y="2444600"/>
              <a:ext cx="2157675" cy="768075"/>
            </a:xfrm>
            <a:custGeom>
              <a:avLst/>
              <a:gdLst/>
              <a:ahLst/>
              <a:cxnLst/>
              <a:rect l="l" t="t" r="r" b="b"/>
              <a:pathLst>
                <a:path w="86307" h="30723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711"/>
                  </a:lnTo>
                  <a:lnTo>
                    <a:pt x="36405" y="1066"/>
                  </a:lnTo>
                  <a:lnTo>
                    <a:pt x="32765" y="1510"/>
                  </a:lnTo>
                  <a:lnTo>
                    <a:pt x="29213" y="2043"/>
                  </a:lnTo>
                  <a:lnTo>
                    <a:pt x="25662" y="2664"/>
                  </a:lnTo>
                  <a:lnTo>
                    <a:pt x="22199" y="3375"/>
                  </a:lnTo>
                  <a:lnTo>
                    <a:pt x="18825" y="4085"/>
                  </a:lnTo>
                  <a:lnTo>
                    <a:pt x="15539" y="4973"/>
                  </a:lnTo>
                  <a:lnTo>
                    <a:pt x="12254" y="5861"/>
                  </a:lnTo>
                  <a:lnTo>
                    <a:pt x="9057" y="6838"/>
                  </a:lnTo>
                  <a:lnTo>
                    <a:pt x="5950" y="7903"/>
                  </a:lnTo>
                  <a:lnTo>
                    <a:pt x="2931" y="9057"/>
                  </a:lnTo>
                  <a:lnTo>
                    <a:pt x="1" y="10212"/>
                  </a:lnTo>
                  <a:lnTo>
                    <a:pt x="1" y="30723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484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666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558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736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801"/>
                  </a:lnTo>
                  <a:lnTo>
                    <a:pt x="79026" y="20334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309"/>
                  </a:lnTo>
                  <a:lnTo>
                    <a:pt x="78848" y="1688"/>
                  </a:lnTo>
                  <a:lnTo>
                    <a:pt x="75030" y="1244"/>
                  </a:lnTo>
                  <a:lnTo>
                    <a:pt x="71212" y="800"/>
                  </a:lnTo>
                  <a:lnTo>
                    <a:pt x="67305" y="445"/>
                  </a:lnTo>
                  <a:lnTo>
                    <a:pt x="63398" y="178"/>
                  </a:lnTo>
                  <a:lnTo>
                    <a:pt x="59403" y="89"/>
                  </a:lnTo>
                  <a:lnTo>
                    <a:pt x="554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2"/>
            <p:cNvSpPr/>
            <p:nvPr/>
          </p:nvSpPr>
          <p:spPr>
            <a:xfrm>
              <a:off x="4118525" y="326815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6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9"/>
                  </a:lnTo>
                  <a:lnTo>
                    <a:pt x="5950" y="7814"/>
                  </a:lnTo>
                  <a:lnTo>
                    <a:pt x="2931" y="8969"/>
                  </a:lnTo>
                  <a:lnTo>
                    <a:pt x="1" y="10212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713"/>
                  </a:lnTo>
                  <a:lnTo>
                    <a:pt x="79026" y="20245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220"/>
                  </a:lnTo>
                  <a:lnTo>
                    <a:pt x="78848" y="1599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356"/>
                  </a:lnTo>
                  <a:lnTo>
                    <a:pt x="63398" y="178"/>
                  </a:lnTo>
                  <a:lnTo>
                    <a:pt x="5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63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63"/>
          <p:cNvSpPr txBox="1"/>
          <p:nvPr/>
        </p:nvSpPr>
        <p:spPr>
          <a:xfrm>
            <a:off x="711325" y="1917800"/>
            <a:ext cx="20490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Start coding the mobile app.</a:t>
            </a:r>
            <a:endParaRPr sz="1200" dirty="0"/>
          </a:p>
        </p:txBody>
      </p:sp>
      <p:sp>
        <p:nvSpPr>
          <p:cNvPr id="396" name="Google Shape;396;p63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63"/>
          <p:cNvSpPr txBox="1"/>
          <p:nvPr/>
        </p:nvSpPr>
        <p:spPr>
          <a:xfrm>
            <a:off x="3368925" y="1917800"/>
            <a:ext cx="20490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Design the UX desktop site.</a:t>
            </a:r>
            <a:endParaRPr sz="1200" dirty="0"/>
          </a:p>
        </p:txBody>
      </p:sp>
      <p:sp>
        <p:nvSpPr>
          <p:cNvPr id="398" name="Google Shape;398;p63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63"/>
          <p:cNvSpPr txBox="1"/>
          <p:nvPr/>
        </p:nvSpPr>
        <p:spPr>
          <a:xfrm>
            <a:off x="6026525" y="1917800"/>
            <a:ext cx="20490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Develop the desktop site and deploy both.</a:t>
            </a:r>
            <a:endParaRPr sz="1200" dirty="0"/>
          </a:p>
        </p:txBody>
      </p:sp>
      <p:sp>
        <p:nvSpPr>
          <p:cNvPr id="400" name="Google Shape;400;p63"/>
          <p:cNvSpPr/>
          <p:nvPr/>
        </p:nvSpPr>
        <p:spPr>
          <a:xfrm>
            <a:off x="14791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1" name="Google Shape;401;p63"/>
          <p:cNvSpPr/>
          <p:nvPr/>
        </p:nvSpPr>
        <p:spPr>
          <a:xfrm>
            <a:off x="41367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2" name="Google Shape;402;p63"/>
          <p:cNvSpPr/>
          <p:nvPr/>
        </p:nvSpPr>
        <p:spPr>
          <a:xfrm>
            <a:off x="67943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Let’s connect!</a:t>
            </a:r>
            <a:endParaRPr sz="240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64"/>
          <p:cNvSpPr txBox="1"/>
          <p:nvPr/>
        </p:nvSpPr>
        <p:spPr>
          <a:xfrm>
            <a:off x="3064600" y="-1016100"/>
            <a:ext cx="6509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next steps you would take with this project and why. Feel free to organize next steps in a bullet point list. </a:t>
            </a:r>
            <a:endParaRPr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64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64"/>
          <p:cNvSpPr txBox="1"/>
          <p:nvPr/>
        </p:nvSpPr>
        <p:spPr>
          <a:xfrm>
            <a:off x="919075" y="2461800"/>
            <a:ext cx="71361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Thank you for the time you took to read my project,  hope that gives you an overview of how a UX/UI design is developed.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Contact information.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 mail. </a:t>
            </a: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arturomendozarendon@gmail.com</a:t>
            </a:r>
            <a:endParaRPr lang="en" sz="1200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phone number 2288378109. </a:t>
            </a:r>
          </a:p>
        </p:txBody>
      </p:sp>
      <p:sp>
        <p:nvSpPr>
          <p:cNvPr id="411" name="Google Shape;411;p64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64"/>
          <p:cNvSpPr/>
          <p:nvPr/>
        </p:nvSpPr>
        <p:spPr>
          <a:xfrm>
            <a:off x="4361825" y="1734124"/>
            <a:ext cx="250599" cy="249449"/>
          </a:xfrm>
          <a:custGeom>
            <a:avLst/>
            <a:gdLst/>
            <a:ahLst/>
            <a:cxnLst/>
            <a:rect l="l" t="t" r="r" b="b"/>
            <a:pathLst>
              <a:path w="964" h="962" extrusionOk="0">
                <a:moveTo>
                  <a:pt x="774" y="400"/>
                </a:moveTo>
                <a:lnTo>
                  <a:pt x="562" y="189"/>
                </a:lnTo>
                <a:lnTo>
                  <a:pt x="0" y="749"/>
                </a:lnTo>
                <a:lnTo>
                  <a:pt x="0" y="961"/>
                </a:lnTo>
                <a:lnTo>
                  <a:pt x="212" y="961"/>
                </a:lnTo>
                <a:lnTo>
                  <a:pt x="774" y="400"/>
                </a:lnTo>
                <a:close/>
                <a:moveTo>
                  <a:pt x="940" y="234"/>
                </a:moveTo>
                <a:cubicBezTo>
                  <a:pt x="963" y="211"/>
                  <a:pt x="963" y="177"/>
                  <a:pt x="940" y="155"/>
                </a:cubicBezTo>
                <a:lnTo>
                  <a:pt x="807" y="22"/>
                </a:lnTo>
                <a:cubicBezTo>
                  <a:pt x="785" y="0"/>
                  <a:pt x="751" y="0"/>
                  <a:pt x="728" y="22"/>
                </a:cubicBezTo>
                <a:lnTo>
                  <a:pt x="618" y="132"/>
                </a:lnTo>
                <a:lnTo>
                  <a:pt x="830" y="344"/>
                </a:lnTo>
                <a:lnTo>
                  <a:pt x="940" y="2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 txBox="1"/>
          <p:nvPr/>
        </p:nvSpPr>
        <p:spPr>
          <a:xfrm>
            <a:off x="2106450" y="2202300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1038</Words>
  <Application>Microsoft Office PowerPoint</Application>
  <PresentationFormat>Presentación en pantalla (16:9)</PresentationFormat>
  <Paragraphs>144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Arial</vt:lpstr>
      <vt:lpstr>Google Sans Medium</vt:lpstr>
      <vt:lpstr>Roboto</vt:lpstr>
      <vt:lpstr>Open Sans SemiBold</vt:lpstr>
      <vt:lpstr>Open Sans</vt:lpstr>
      <vt:lpstr>Calibri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Mendoza, Arturo</cp:lastModifiedBy>
  <cp:revision>32</cp:revision>
  <dcterms:modified xsi:type="dcterms:W3CDTF">2022-11-15T23:40:25Z</dcterms:modified>
</cp:coreProperties>
</file>